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53"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6873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4A"/>
        </a:solidFill>
        <a:effectLst/>
      </p:bgPr>
    </p:bg>
    <p:spTree>
      <p:nvGrpSpPr>
        <p:cNvPr id="1" name=""/>
        <p:cNvGrpSpPr/>
        <p:nvPr/>
      </p:nvGrpSpPr>
      <p:grpSpPr>
        <a:xfrm>
          <a:off x="0" y="0"/>
          <a:ext cx="0" cy="0"/>
          <a:chOff x="0" y="0"/>
          <a:chExt cx="0" cy="0"/>
        </a:xfrm>
      </p:grpSpPr>
      <p:sp>
        <p:nvSpPr>
          <p:cNvPr id="2" name="Shape 0"/>
          <p:cNvSpPr/>
          <p:nvPr/>
        </p:nvSpPr>
        <p:spPr>
          <a:xfrm>
            <a:off x="9052560" y="-1645920"/>
            <a:ext cx="4754880" cy="4754880"/>
          </a:xfrm>
          <a:prstGeom prst="ellipse">
            <a:avLst/>
          </a:prstGeom>
          <a:solidFill>
            <a:srgbClr val="21295C"/>
          </a:solidFill>
          <a:ln/>
        </p:spPr>
      </p:sp>
      <p:sp>
        <p:nvSpPr>
          <p:cNvPr id="3" name="Shape 1"/>
          <p:cNvSpPr/>
          <p:nvPr/>
        </p:nvSpPr>
        <p:spPr>
          <a:xfrm>
            <a:off x="10149840" y="-822960"/>
            <a:ext cx="3108960" cy="3108960"/>
          </a:xfrm>
          <a:prstGeom prst="ellipse">
            <a:avLst/>
          </a:prstGeom>
          <a:solidFill>
            <a:srgbClr val="1C7293"/>
          </a:solidFill>
          <a:ln/>
        </p:spPr>
      </p:sp>
      <p:sp>
        <p:nvSpPr>
          <p:cNvPr id="4" name="Text 2"/>
          <p:cNvSpPr/>
          <p:nvPr/>
        </p:nvSpPr>
        <p:spPr>
          <a:xfrm>
            <a:off x="640080" y="502920"/>
            <a:ext cx="8686800" cy="36576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DATABASE AND BACKEND SYSTEMS</a:t>
            </a:r>
            <a:endParaRPr lang="en-US" sz="1200" dirty="0"/>
          </a:p>
        </p:txBody>
      </p:sp>
      <p:sp>
        <p:nvSpPr>
          <p:cNvPr id="5" name="Text 3"/>
          <p:cNvSpPr/>
          <p:nvPr/>
        </p:nvSpPr>
        <p:spPr>
          <a:xfrm>
            <a:off x="640080" y="1417320"/>
            <a:ext cx="9601200" cy="7772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Library &amp; Archives</a:t>
            </a:r>
            <a:endParaRPr lang="en-US" sz="4000" dirty="0"/>
          </a:p>
        </p:txBody>
      </p:sp>
      <p:sp>
        <p:nvSpPr>
          <p:cNvPr id="6" name="Text 4"/>
          <p:cNvSpPr/>
          <p:nvPr/>
        </p:nvSpPr>
        <p:spPr>
          <a:xfrm>
            <a:off x="640080" y="2103120"/>
            <a:ext cx="9601200" cy="7772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Self-Service Platform</a:t>
            </a:r>
            <a:endParaRPr lang="en-US" sz="4000" dirty="0"/>
          </a:p>
        </p:txBody>
      </p:sp>
      <p:sp>
        <p:nvSpPr>
          <p:cNvPr id="7" name="Text 5"/>
          <p:cNvSpPr/>
          <p:nvPr/>
        </p:nvSpPr>
        <p:spPr>
          <a:xfrm>
            <a:off x="640080" y="2880360"/>
            <a:ext cx="9601200" cy="548640"/>
          </a:xfrm>
          <a:prstGeom prst="rect">
            <a:avLst/>
          </a:prstGeom>
          <a:noFill/>
          <a:ln/>
        </p:spPr>
        <p:txBody>
          <a:bodyPr wrap="square" rtlCol="0" anchor="ctr"/>
          <a:lstStyle/>
          <a:p>
            <a:r>
              <a:rPr lang="en-US" sz="2200" i="1" dirty="0">
                <a:solidFill>
                  <a:srgbClr val="CFE8F3"/>
                </a:solidFill>
                <a:latin typeface="Cambria" pitchFamily="34" charset="0"/>
                <a:ea typeface="Cambria" pitchFamily="34" charset="-122"/>
                <a:cs typeface="Cambria" pitchFamily="34" charset="-120"/>
              </a:rPr>
              <a:t>for Member </a:t>
            </a:r>
            <a:r>
              <a:rPr lang="en-US" sz="2200" i="1" smtClean="0">
                <a:solidFill>
                  <a:srgbClr val="CFE8F3"/>
                </a:solidFill>
                <a:latin typeface="Cambria" pitchFamily="34" charset="0"/>
                <a:ea typeface="Cambria" pitchFamily="34" charset="-122"/>
                <a:cs typeface="Cambria" pitchFamily="34" charset="-120"/>
              </a:rPr>
              <a:t>Self-Services </a:t>
            </a:r>
            <a:r>
              <a:rPr lang="en-US" sz="2400" i="1">
                <a:solidFill>
                  <a:srgbClr val="CFE8F3"/>
                </a:solidFill>
                <a:latin typeface="Calibri" pitchFamily="34" charset="0"/>
                <a:ea typeface="Calibri" pitchFamily="34" charset="-122"/>
                <a:cs typeface="Calibri" pitchFamily="34" charset="-120"/>
              </a:rPr>
              <a:t>Review </a:t>
            </a:r>
            <a:r>
              <a:rPr lang="en-US" sz="2400" i="1" smtClean="0">
                <a:solidFill>
                  <a:srgbClr val="CFE8F3"/>
                </a:solidFill>
                <a:latin typeface="Calibri" pitchFamily="34" charset="0"/>
                <a:ea typeface="Calibri" pitchFamily="34" charset="-122"/>
                <a:cs typeface="Calibri" pitchFamily="34" charset="-120"/>
              </a:rPr>
              <a:t>0 Presentation</a:t>
            </a:r>
            <a:endParaRPr lang="en-US" sz="2200" dirty="0"/>
          </a:p>
        </p:txBody>
      </p:sp>
      <p:sp>
        <p:nvSpPr>
          <p:cNvPr id="8" name="Text 6"/>
          <p:cNvSpPr/>
          <p:nvPr/>
        </p:nvSpPr>
        <p:spPr>
          <a:xfrm>
            <a:off x="640080" y="3566160"/>
            <a:ext cx="9144000" cy="365760"/>
          </a:xfrm>
          <a:prstGeom prst="rect">
            <a:avLst/>
          </a:prstGeom>
          <a:noFill/>
          <a:ln/>
        </p:spPr>
        <p:txBody>
          <a:bodyPr wrap="square" rtlCol="0" anchor="ctr"/>
          <a:lstStyle/>
          <a:p>
            <a:pPr marL="0" indent="0">
              <a:buNone/>
            </a:pPr>
            <a:r>
              <a:rPr lang="en-US" sz="1400" dirty="0">
                <a:solidFill>
                  <a:srgbClr val="9FC3D6"/>
                </a:solidFill>
                <a:latin typeface="Calibri" pitchFamily="34" charset="0"/>
                <a:ea typeface="Calibri" pitchFamily="34" charset="-122"/>
                <a:cs typeface="Calibri" pitchFamily="34" charset="-120"/>
              </a:rPr>
              <a:t>Section 10  •  Y25, 2026–2027, Trimester 4</a:t>
            </a:r>
            <a:endParaRPr lang="en-US" sz="1400" dirty="0"/>
          </a:p>
        </p:txBody>
      </p:sp>
      <p:sp>
        <p:nvSpPr>
          <p:cNvPr id="9" name="Text 7"/>
          <p:cNvSpPr/>
          <p:nvPr/>
        </p:nvSpPr>
        <p:spPr>
          <a:xfrm>
            <a:off x="640080" y="4160520"/>
            <a:ext cx="4572000" cy="320040"/>
          </a:xfrm>
          <a:prstGeom prst="rect">
            <a:avLst/>
          </a:prstGeom>
          <a:noFill/>
          <a:ln/>
        </p:spPr>
        <p:txBody>
          <a:bodyPr wrap="square" rtlCol="0" anchor="ctr"/>
          <a:lstStyle/>
          <a:p>
            <a:pPr marL="0" indent="0">
              <a:buNone/>
            </a:pPr>
            <a:r>
              <a:rPr lang="en-US" sz="1200" b="1" kern="0" spc="120" dirty="0">
                <a:solidFill>
                  <a:srgbClr val="E8A33D"/>
                </a:solidFill>
                <a:latin typeface="Calibri" pitchFamily="34" charset="0"/>
                <a:ea typeface="Calibri" pitchFamily="34" charset="-122"/>
                <a:cs typeface="Calibri" pitchFamily="34" charset="-120"/>
              </a:rPr>
              <a:t>PRESENTED BY</a:t>
            </a:r>
            <a:endParaRPr lang="en-US" sz="1200" dirty="0"/>
          </a:p>
        </p:txBody>
      </p:sp>
      <p:sp>
        <p:nvSpPr>
          <p:cNvPr id="10" name="Shape 8"/>
          <p:cNvSpPr/>
          <p:nvPr/>
        </p:nvSpPr>
        <p:spPr>
          <a:xfrm>
            <a:off x="640080" y="4526280"/>
            <a:ext cx="3429000" cy="868680"/>
          </a:xfrm>
          <a:prstGeom prst="roundRect">
            <a:avLst>
              <a:gd name="adj" fmla="val 10526"/>
            </a:avLst>
          </a:prstGeom>
          <a:solidFill>
            <a:srgbClr val="21295C"/>
          </a:solidFill>
          <a:ln w="12700">
            <a:solidFill>
              <a:srgbClr val="1C7293"/>
            </a:solidFill>
            <a:prstDash val="solid"/>
          </a:ln>
        </p:spPr>
      </p:sp>
      <p:sp>
        <p:nvSpPr>
          <p:cNvPr id="11" name="Text 9"/>
          <p:cNvSpPr/>
          <p:nvPr/>
        </p:nvSpPr>
        <p:spPr>
          <a:xfrm>
            <a:off x="822960" y="4590288"/>
            <a:ext cx="3063240" cy="365760"/>
          </a:xfrm>
          <a:prstGeom prst="rect">
            <a:avLst/>
          </a:prstGeom>
          <a:noFill/>
          <a:ln/>
        </p:spPr>
        <p:txBody>
          <a:bodyPr wrap="square" rtlCol="0" anchor="b"/>
          <a:lstStyle/>
          <a:p>
            <a:pPr marL="0" indent="0">
              <a:buNone/>
            </a:pPr>
            <a:r>
              <a:rPr lang="en-US" sz="1400" b="1" dirty="0">
                <a:solidFill>
                  <a:srgbClr val="FFFFFF"/>
                </a:solidFill>
                <a:latin typeface="Calibri" pitchFamily="34" charset="0"/>
                <a:ea typeface="Calibri" pitchFamily="34" charset="-122"/>
                <a:cs typeface="Calibri" pitchFamily="34" charset="-120"/>
              </a:rPr>
              <a:t>Yaswanth Reddy</a:t>
            </a:r>
            <a:endParaRPr lang="en-US" sz="1400" dirty="0"/>
          </a:p>
        </p:txBody>
      </p:sp>
      <p:sp>
        <p:nvSpPr>
          <p:cNvPr id="12" name="Text 10"/>
          <p:cNvSpPr/>
          <p:nvPr/>
        </p:nvSpPr>
        <p:spPr>
          <a:xfrm>
            <a:off x="822960" y="4956048"/>
            <a:ext cx="3063240" cy="365760"/>
          </a:xfrm>
          <a:prstGeom prst="rect">
            <a:avLst/>
          </a:prstGeom>
          <a:noFill/>
          <a:ln/>
        </p:spPr>
        <p:txBody>
          <a:bodyPr wrap="square" rtlCol="0" anchor="t"/>
          <a:lstStyle/>
          <a:p>
            <a:pPr marL="0" indent="0">
              <a:buNone/>
            </a:pPr>
            <a:r>
              <a:rPr lang="en-US" sz="1150" dirty="0">
                <a:solidFill>
                  <a:srgbClr val="9FC3D6"/>
                </a:solidFill>
                <a:latin typeface="Calibri" pitchFamily="34" charset="0"/>
                <a:ea typeface="Calibri" pitchFamily="34" charset="-122"/>
                <a:cs typeface="Calibri" pitchFamily="34" charset="-120"/>
              </a:rPr>
              <a:t>2520080048</a:t>
            </a:r>
            <a:endParaRPr lang="en-US" sz="1150" dirty="0"/>
          </a:p>
        </p:txBody>
      </p:sp>
      <p:sp>
        <p:nvSpPr>
          <p:cNvPr id="13" name="Shape 11"/>
          <p:cNvSpPr/>
          <p:nvPr/>
        </p:nvSpPr>
        <p:spPr>
          <a:xfrm>
            <a:off x="4251960" y="4526280"/>
            <a:ext cx="3429000" cy="868680"/>
          </a:xfrm>
          <a:prstGeom prst="roundRect">
            <a:avLst>
              <a:gd name="adj" fmla="val 10526"/>
            </a:avLst>
          </a:prstGeom>
          <a:solidFill>
            <a:srgbClr val="21295C"/>
          </a:solidFill>
          <a:ln w="12700">
            <a:solidFill>
              <a:srgbClr val="1C7293"/>
            </a:solidFill>
            <a:prstDash val="solid"/>
          </a:ln>
        </p:spPr>
      </p:sp>
      <p:sp>
        <p:nvSpPr>
          <p:cNvPr id="14" name="Text 12"/>
          <p:cNvSpPr/>
          <p:nvPr/>
        </p:nvSpPr>
        <p:spPr>
          <a:xfrm>
            <a:off x="4434840" y="4590288"/>
            <a:ext cx="3063240" cy="365760"/>
          </a:xfrm>
          <a:prstGeom prst="rect">
            <a:avLst/>
          </a:prstGeom>
          <a:noFill/>
          <a:ln/>
        </p:spPr>
        <p:txBody>
          <a:bodyPr wrap="square" rtlCol="0" anchor="b"/>
          <a:lstStyle/>
          <a:p>
            <a:pPr marL="0" indent="0">
              <a:buNone/>
            </a:pPr>
            <a:r>
              <a:rPr lang="en-US" sz="1400" b="1" dirty="0">
                <a:solidFill>
                  <a:srgbClr val="FFFFFF"/>
                </a:solidFill>
                <a:latin typeface="Calibri" pitchFamily="34" charset="0"/>
                <a:ea typeface="Calibri" pitchFamily="34" charset="-122"/>
                <a:cs typeface="Calibri" pitchFamily="34" charset="-120"/>
              </a:rPr>
              <a:t>Kartheek Reddy</a:t>
            </a:r>
            <a:endParaRPr lang="en-US" sz="1400" dirty="0"/>
          </a:p>
        </p:txBody>
      </p:sp>
      <p:sp>
        <p:nvSpPr>
          <p:cNvPr id="15" name="Text 13"/>
          <p:cNvSpPr/>
          <p:nvPr/>
        </p:nvSpPr>
        <p:spPr>
          <a:xfrm>
            <a:off x="4434840" y="4956048"/>
            <a:ext cx="3063240" cy="365760"/>
          </a:xfrm>
          <a:prstGeom prst="rect">
            <a:avLst/>
          </a:prstGeom>
          <a:noFill/>
          <a:ln/>
        </p:spPr>
        <p:txBody>
          <a:bodyPr wrap="square" rtlCol="0" anchor="t"/>
          <a:lstStyle/>
          <a:p>
            <a:pPr marL="0" indent="0">
              <a:buNone/>
            </a:pPr>
            <a:r>
              <a:rPr lang="en-US" sz="1150" dirty="0">
                <a:solidFill>
                  <a:srgbClr val="9FC3D6"/>
                </a:solidFill>
                <a:latin typeface="Calibri" pitchFamily="34" charset="0"/>
                <a:ea typeface="Calibri" pitchFamily="34" charset="-122"/>
                <a:cs typeface="Calibri" pitchFamily="34" charset="-120"/>
              </a:rPr>
              <a:t>2520090015</a:t>
            </a:r>
            <a:endParaRPr lang="en-US" sz="1150" dirty="0"/>
          </a:p>
        </p:txBody>
      </p:sp>
      <p:sp>
        <p:nvSpPr>
          <p:cNvPr id="16" name="Shape 14"/>
          <p:cNvSpPr/>
          <p:nvPr/>
        </p:nvSpPr>
        <p:spPr>
          <a:xfrm>
            <a:off x="7863840" y="4526280"/>
            <a:ext cx="3429000" cy="868680"/>
          </a:xfrm>
          <a:prstGeom prst="roundRect">
            <a:avLst>
              <a:gd name="adj" fmla="val 10526"/>
            </a:avLst>
          </a:prstGeom>
          <a:solidFill>
            <a:srgbClr val="21295C"/>
          </a:solidFill>
          <a:ln w="12700">
            <a:solidFill>
              <a:srgbClr val="1C7293"/>
            </a:solidFill>
            <a:prstDash val="solid"/>
          </a:ln>
        </p:spPr>
      </p:sp>
      <p:sp>
        <p:nvSpPr>
          <p:cNvPr id="17" name="Text 15"/>
          <p:cNvSpPr/>
          <p:nvPr/>
        </p:nvSpPr>
        <p:spPr>
          <a:xfrm>
            <a:off x="8046720" y="4590288"/>
            <a:ext cx="3063240" cy="365760"/>
          </a:xfrm>
          <a:prstGeom prst="rect">
            <a:avLst/>
          </a:prstGeom>
          <a:noFill/>
          <a:ln/>
        </p:spPr>
        <p:txBody>
          <a:bodyPr wrap="square" rtlCol="0" anchor="b"/>
          <a:lstStyle/>
          <a:p>
            <a:pPr marL="0" indent="0">
              <a:buNone/>
            </a:pPr>
            <a:r>
              <a:rPr lang="en-US" sz="1400" b="1" dirty="0">
                <a:solidFill>
                  <a:srgbClr val="FFFFFF"/>
                </a:solidFill>
                <a:latin typeface="Calibri" pitchFamily="34" charset="0"/>
                <a:ea typeface="Calibri" pitchFamily="34" charset="-122"/>
                <a:cs typeface="Calibri" pitchFamily="34" charset="-120"/>
              </a:rPr>
              <a:t>Venkat Sai</a:t>
            </a:r>
            <a:endParaRPr lang="en-US" sz="1400" dirty="0"/>
          </a:p>
        </p:txBody>
      </p:sp>
      <p:sp>
        <p:nvSpPr>
          <p:cNvPr id="18" name="Text 16"/>
          <p:cNvSpPr/>
          <p:nvPr/>
        </p:nvSpPr>
        <p:spPr>
          <a:xfrm>
            <a:off x="8046720" y="4956048"/>
            <a:ext cx="3063240" cy="365760"/>
          </a:xfrm>
          <a:prstGeom prst="rect">
            <a:avLst/>
          </a:prstGeom>
          <a:noFill/>
          <a:ln/>
        </p:spPr>
        <p:txBody>
          <a:bodyPr wrap="square" rtlCol="0" anchor="t"/>
          <a:lstStyle/>
          <a:p>
            <a:pPr marL="0" indent="0">
              <a:buNone/>
            </a:pPr>
            <a:r>
              <a:rPr lang="en-US" sz="1150" dirty="0">
                <a:solidFill>
                  <a:srgbClr val="9FC3D6"/>
                </a:solidFill>
                <a:latin typeface="Calibri" pitchFamily="34" charset="0"/>
                <a:ea typeface="Calibri" pitchFamily="34" charset="-122"/>
                <a:cs typeface="Calibri" pitchFamily="34" charset="-120"/>
              </a:rPr>
              <a:t>2520090034</a:t>
            </a:r>
            <a:endParaRPr lang="en-US" sz="1150" dirty="0"/>
          </a:p>
        </p:txBody>
      </p:sp>
      <p:sp>
        <p:nvSpPr>
          <p:cNvPr id="19" name="Text 17"/>
          <p:cNvSpPr/>
          <p:nvPr/>
        </p:nvSpPr>
        <p:spPr>
          <a:xfrm>
            <a:off x="640080" y="5806440"/>
            <a:ext cx="7315200" cy="365760"/>
          </a:xfrm>
          <a:prstGeom prst="rect">
            <a:avLst/>
          </a:prstGeom>
          <a:noFill/>
          <a:ln/>
        </p:spPr>
        <p:txBody>
          <a:bodyPr wrap="square" rtlCol="0" anchor="ctr"/>
          <a:lstStyle/>
          <a:p>
            <a:pPr marL="0" indent="0">
              <a:buNone/>
            </a:pPr>
            <a:r>
              <a:rPr lang="en-US" sz="1200" dirty="0">
                <a:solidFill>
                  <a:srgbClr val="9FC3D6"/>
                </a:solidFill>
                <a:latin typeface="Calibri" pitchFamily="34" charset="0"/>
                <a:ea typeface="Calibri" pitchFamily="34" charset="-122"/>
                <a:cs typeface="Calibri" pitchFamily="34" charset="-120"/>
              </a:rPr>
              <a:t>Guide Name &amp; Signature: ______________________________</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400" b="1" dirty="0">
                <a:solidFill>
                  <a:srgbClr val="0B2F4A"/>
                </a:solidFill>
                <a:latin typeface="Cambria" pitchFamily="34" charset="0"/>
                <a:ea typeface="Cambria" pitchFamily="34" charset="-122"/>
                <a:cs typeface="Cambria" pitchFamily="34" charset="-120"/>
              </a:rPr>
              <a:t>Introduction</a:t>
            </a:r>
            <a:endParaRPr lang="en-US" sz="3400" dirty="0"/>
          </a:p>
        </p:txBody>
      </p:sp>
      <p:sp>
        <p:nvSpPr>
          <p:cNvPr id="3" name="Text 1"/>
          <p:cNvSpPr/>
          <p:nvPr/>
        </p:nvSpPr>
        <p:spPr>
          <a:xfrm>
            <a:off x="548640" y="1051560"/>
            <a:ext cx="8686800" cy="365760"/>
          </a:xfrm>
          <a:prstGeom prst="rect">
            <a:avLst/>
          </a:prstGeom>
          <a:noFill/>
          <a:ln/>
        </p:spPr>
        <p:txBody>
          <a:bodyPr wrap="square" rtlCol="0" anchor="ctr"/>
          <a:lstStyle/>
          <a:p>
            <a:pPr marL="0" indent="0">
              <a:buNone/>
            </a:pPr>
            <a:r>
              <a:rPr lang="en-US" sz="1500" i="1" dirty="0">
                <a:solidFill>
                  <a:srgbClr val="1C7293"/>
                </a:solidFill>
                <a:latin typeface="Calibri" pitchFamily="34" charset="0"/>
                <a:ea typeface="Calibri" pitchFamily="34" charset="-122"/>
                <a:cs typeface="Calibri" pitchFamily="34" charset="-120"/>
              </a:rPr>
              <a:t>Reimagining how members interact with the library</a:t>
            </a:r>
            <a:endParaRPr lang="en-US" sz="1500" dirty="0"/>
          </a:p>
        </p:txBody>
      </p:sp>
      <p:sp>
        <p:nvSpPr>
          <p:cNvPr id="4" name="Shape 2"/>
          <p:cNvSpPr/>
          <p:nvPr/>
        </p:nvSpPr>
        <p:spPr>
          <a:xfrm>
            <a:off x="548640" y="1691640"/>
            <a:ext cx="7772400" cy="1554480"/>
          </a:xfrm>
          <a:prstGeom prst="roundRect">
            <a:avLst>
              <a:gd name="adj" fmla="val 5882"/>
            </a:avLst>
          </a:prstGeom>
          <a:solidFill>
            <a:srgbClr val="F4F8FA"/>
          </a:solidFill>
          <a:ln w="12700">
            <a:solidFill>
              <a:srgbClr val="1C7293"/>
            </a:solidFill>
            <a:prstDash val="solid"/>
          </a:ln>
        </p:spPr>
      </p:sp>
      <p:sp>
        <p:nvSpPr>
          <p:cNvPr id="5" name="Text 3"/>
          <p:cNvSpPr/>
          <p:nvPr/>
        </p:nvSpPr>
        <p:spPr>
          <a:xfrm>
            <a:off x="822960" y="1828800"/>
            <a:ext cx="7223760" cy="1280160"/>
          </a:xfrm>
          <a:prstGeom prst="rect">
            <a:avLst/>
          </a:prstGeom>
          <a:noFill/>
          <a:ln/>
        </p:spPr>
        <p:txBody>
          <a:bodyPr wrap="square" rtlCol="0" anchor="ctr"/>
          <a:lstStyle/>
          <a:p>
            <a:pPr marL="0" indent="0">
              <a:lnSpc>
                <a:spcPct val="125000"/>
              </a:lnSpc>
              <a:buNone/>
            </a:pPr>
            <a:r>
              <a:rPr lang="en-US" sz="1350" dirty="0">
                <a:solidFill>
                  <a:srgbClr val="1B2733"/>
                </a:solidFill>
                <a:latin typeface="Calibri" pitchFamily="34" charset="0"/>
                <a:ea typeface="Calibri" pitchFamily="34" charset="-122"/>
                <a:cs typeface="Calibri" pitchFamily="34" charset="-120"/>
              </a:rPr>
              <a:t>Libraries hold vast collections of books, journals, and archival material, yet most members still rely on manual counters or basic web portals to search, reserve, and track resources. Our project introduces a self-service web application that brings the entire library experience online — allowing members to manage their library activity conveniently, from anywhere, at any time.</a:t>
            </a:r>
            <a:endParaRPr lang="en-US" sz="1350" dirty="0"/>
          </a:p>
        </p:txBody>
      </p:sp>
      <p:sp>
        <p:nvSpPr>
          <p:cNvPr id="6" name="Shape 4"/>
          <p:cNvSpPr/>
          <p:nvPr/>
        </p:nvSpPr>
        <p:spPr>
          <a:xfrm>
            <a:off x="548640" y="3520440"/>
            <a:ext cx="502920" cy="502920"/>
          </a:xfrm>
          <a:prstGeom prst="ellipse">
            <a:avLst/>
          </a:prstGeom>
          <a:solidFill>
            <a:srgbClr val="1C7293"/>
          </a:solidFill>
          <a:ln/>
        </p:spPr>
      </p:sp>
      <p:sp>
        <p:nvSpPr>
          <p:cNvPr id="7" name="Text 5"/>
          <p:cNvSpPr/>
          <p:nvPr/>
        </p:nvSpPr>
        <p:spPr>
          <a:xfrm>
            <a:off x="548640" y="352044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234440" y="3502152"/>
            <a:ext cx="6949440" cy="320040"/>
          </a:xfrm>
          <a:prstGeom prst="rect">
            <a:avLst/>
          </a:prstGeom>
          <a:noFill/>
          <a:ln/>
        </p:spPr>
        <p:txBody>
          <a:bodyPr wrap="square"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Digital-First Access</a:t>
            </a:r>
            <a:endParaRPr lang="en-US" sz="1500" dirty="0"/>
          </a:p>
        </p:txBody>
      </p:sp>
      <p:sp>
        <p:nvSpPr>
          <p:cNvPr id="9" name="Text 7"/>
          <p:cNvSpPr/>
          <p:nvPr/>
        </p:nvSpPr>
        <p:spPr>
          <a:xfrm>
            <a:off x="1234440" y="3822192"/>
            <a:ext cx="6949440" cy="365760"/>
          </a:xfrm>
          <a:prstGeom prst="rect">
            <a:avLst/>
          </a:prstGeom>
          <a:noFill/>
          <a:ln/>
        </p:spPr>
        <p:txBody>
          <a:bodyPr wrap="square" rtlCol="0" anchor="ctr"/>
          <a:lstStyle/>
          <a:p>
            <a:pPr marL="0" indent="0">
              <a:buNone/>
            </a:pPr>
            <a:r>
              <a:rPr lang="en-US" sz="1200" dirty="0">
                <a:solidFill>
                  <a:srgbClr val="5B6B76"/>
                </a:solidFill>
                <a:latin typeface="Calibri" pitchFamily="34" charset="0"/>
                <a:ea typeface="Calibri" pitchFamily="34" charset="-122"/>
                <a:cs typeface="Calibri" pitchFamily="34" charset="-120"/>
              </a:rPr>
              <a:t>Moves library operations from counters and paperwork to an online platform.</a:t>
            </a:r>
            <a:endParaRPr lang="en-US" sz="1200" dirty="0"/>
          </a:p>
        </p:txBody>
      </p:sp>
      <p:sp>
        <p:nvSpPr>
          <p:cNvPr id="10" name="Shape 8"/>
          <p:cNvSpPr/>
          <p:nvPr/>
        </p:nvSpPr>
        <p:spPr>
          <a:xfrm>
            <a:off x="548640" y="4361688"/>
            <a:ext cx="502920" cy="502920"/>
          </a:xfrm>
          <a:prstGeom prst="ellipse">
            <a:avLst/>
          </a:prstGeom>
          <a:solidFill>
            <a:srgbClr val="1C7293"/>
          </a:solidFill>
          <a:ln/>
        </p:spPr>
      </p:sp>
      <p:sp>
        <p:nvSpPr>
          <p:cNvPr id="11" name="Text 9"/>
          <p:cNvSpPr/>
          <p:nvPr/>
        </p:nvSpPr>
        <p:spPr>
          <a:xfrm>
            <a:off x="548640" y="4361688"/>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234440" y="4343400"/>
            <a:ext cx="6949440" cy="320040"/>
          </a:xfrm>
          <a:prstGeom prst="rect">
            <a:avLst/>
          </a:prstGeom>
          <a:noFill/>
          <a:ln/>
        </p:spPr>
        <p:txBody>
          <a:bodyPr wrap="square"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Member Convenience</a:t>
            </a:r>
            <a:endParaRPr lang="en-US" sz="1500" dirty="0"/>
          </a:p>
        </p:txBody>
      </p:sp>
      <p:sp>
        <p:nvSpPr>
          <p:cNvPr id="13" name="Text 11"/>
          <p:cNvSpPr/>
          <p:nvPr/>
        </p:nvSpPr>
        <p:spPr>
          <a:xfrm>
            <a:off x="1234440" y="4663440"/>
            <a:ext cx="6949440" cy="365760"/>
          </a:xfrm>
          <a:prstGeom prst="rect">
            <a:avLst/>
          </a:prstGeom>
          <a:noFill/>
          <a:ln/>
        </p:spPr>
        <p:txBody>
          <a:bodyPr wrap="square" rtlCol="0" anchor="ctr"/>
          <a:lstStyle/>
          <a:p>
            <a:pPr marL="0" indent="0">
              <a:buNone/>
            </a:pPr>
            <a:r>
              <a:rPr lang="en-US" sz="1200" dirty="0">
                <a:solidFill>
                  <a:srgbClr val="5B6B76"/>
                </a:solidFill>
                <a:latin typeface="Calibri" pitchFamily="34" charset="0"/>
                <a:ea typeface="Calibri" pitchFamily="34" charset="-122"/>
                <a:cs typeface="Calibri" pitchFamily="34" charset="-120"/>
              </a:rPr>
              <a:t>Search, reserve, and track resources without visiting the library in person.</a:t>
            </a:r>
            <a:endParaRPr lang="en-US" sz="1200" dirty="0"/>
          </a:p>
        </p:txBody>
      </p:sp>
      <p:sp>
        <p:nvSpPr>
          <p:cNvPr id="14" name="Shape 12"/>
          <p:cNvSpPr/>
          <p:nvPr/>
        </p:nvSpPr>
        <p:spPr>
          <a:xfrm>
            <a:off x="548640" y="5202936"/>
            <a:ext cx="502920" cy="502920"/>
          </a:xfrm>
          <a:prstGeom prst="ellipse">
            <a:avLst/>
          </a:prstGeom>
          <a:solidFill>
            <a:srgbClr val="1C7293"/>
          </a:solidFill>
          <a:ln/>
        </p:spPr>
      </p:sp>
      <p:sp>
        <p:nvSpPr>
          <p:cNvPr id="15" name="Text 13"/>
          <p:cNvSpPr/>
          <p:nvPr/>
        </p:nvSpPr>
        <p:spPr>
          <a:xfrm>
            <a:off x="548640" y="5202936"/>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234440" y="5184648"/>
            <a:ext cx="6949440" cy="320040"/>
          </a:xfrm>
          <a:prstGeom prst="rect">
            <a:avLst/>
          </a:prstGeom>
          <a:noFill/>
          <a:ln/>
        </p:spPr>
        <p:txBody>
          <a:bodyPr wrap="square"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Reliable &amp; Scalable</a:t>
            </a:r>
            <a:endParaRPr lang="en-US" sz="1500" dirty="0"/>
          </a:p>
        </p:txBody>
      </p:sp>
      <p:sp>
        <p:nvSpPr>
          <p:cNvPr id="17" name="Text 15"/>
          <p:cNvSpPr/>
          <p:nvPr/>
        </p:nvSpPr>
        <p:spPr>
          <a:xfrm>
            <a:off x="1234440" y="5504688"/>
            <a:ext cx="6949440" cy="365760"/>
          </a:xfrm>
          <a:prstGeom prst="rect">
            <a:avLst/>
          </a:prstGeom>
          <a:noFill/>
          <a:ln/>
        </p:spPr>
        <p:txBody>
          <a:bodyPr wrap="square" rtlCol="0" anchor="ctr"/>
          <a:lstStyle/>
          <a:p>
            <a:pPr marL="0" indent="0">
              <a:buNone/>
            </a:pPr>
            <a:r>
              <a:rPr lang="en-US" sz="1200" dirty="0">
                <a:solidFill>
                  <a:srgbClr val="5B6B76"/>
                </a:solidFill>
                <a:latin typeface="Calibri" pitchFamily="34" charset="0"/>
                <a:ea typeface="Calibri" pitchFamily="34" charset="-122"/>
                <a:cs typeface="Calibri" pitchFamily="34" charset="-120"/>
              </a:rPr>
              <a:t>Built on a modern web stack that can grow with the library's collection and user base.</a:t>
            </a:r>
            <a:endParaRPr lang="en-US" sz="1200" dirty="0"/>
          </a:p>
        </p:txBody>
      </p:sp>
      <p:sp>
        <p:nvSpPr>
          <p:cNvPr id="18" name="Shape 16"/>
          <p:cNvSpPr/>
          <p:nvPr/>
        </p:nvSpPr>
        <p:spPr>
          <a:xfrm>
            <a:off x="9052560" y="457200"/>
            <a:ext cx="2651760" cy="5760720"/>
          </a:xfrm>
          <a:prstGeom prst="roundRect">
            <a:avLst>
              <a:gd name="adj" fmla="val 4138"/>
            </a:avLst>
          </a:prstGeom>
          <a:solidFill>
            <a:srgbClr val="0B2F4A"/>
          </a:solidFill>
          <a:ln/>
        </p:spPr>
      </p:sp>
      <p:sp>
        <p:nvSpPr>
          <p:cNvPr id="19" name="Shape 17"/>
          <p:cNvSpPr/>
          <p:nvPr/>
        </p:nvSpPr>
        <p:spPr>
          <a:xfrm>
            <a:off x="9921240" y="1097280"/>
            <a:ext cx="822960" cy="822960"/>
          </a:xfrm>
          <a:prstGeom prst="ellipse">
            <a:avLst/>
          </a:prstGeom>
          <a:solidFill>
            <a:srgbClr val="1C7293"/>
          </a:solidFill>
          <a:ln/>
        </p:spPr>
      </p:sp>
      <p:sp>
        <p:nvSpPr>
          <p:cNvPr id="20" name="Text 18"/>
          <p:cNvSpPr/>
          <p:nvPr/>
        </p:nvSpPr>
        <p:spPr>
          <a:xfrm>
            <a:off x="9921240" y="1097280"/>
            <a:ext cx="822960" cy="82296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L</a:t>
            </a:r>
            <a:endParaRPr lang="en-US" sz="2600" dirty="0"/>
          </a:p>
        </p:txBody>
      </p:sp>
      <p:sp>
        <p:nvSpPr>
          <p:cNvPr id="21" name="Text 19"/>
          <p:cNvSpPr/>
          <p:nvPr/>
        </p:nvSpPr>
        <p:spPr>
          <a:xfrm>
            <a:off x="9052560" y="1993392"/>
            <a:ext cx="2651760" cy="2743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Library</a:t>
            </a:r>
            <a:endParaRPr lang="en-US" sz="1250" dirty="0"/>
          </a:p>
        </p:txBody>
      </p:sp>
      <p:sp>
        <p:nvSpPr>
          <p:cNvPr id="22" name="Shape 20"/>
          <p:cNvSpPr/>
          <p:nvPr/>
        </p:nvSpPr>
        <p:spPr>
          <a:xfrm>
            <a:off x="9692640" y="2423160"/>
            <a:ext cx="0" cy="502920"/>
          </a:xfrm>
          <a:prstGeom prst="line">
            <a:avLst/>
          </a:prstGeom>
          <a:noFill/>
          <a:ln w="25400">
            <a:solidFill>
              <a:srgbClr val="1C7293"/>
            </a:solidFill>
            <a:prstDash val="dash"/>
          </a:ln>
        </p:spPr>
      </p:sp>
      <p:sp>
        <p:nvSpPr>
          <p:cNvPr id="23" name="Shape 21"/>
          <p:cNvSpPr/>
          <p:nvPr/>
        </p:nvSpPr>
        <p:spPr>
          <a:xfrm>
            <a:off x="9921240" y="2971800"/>
            <a:ext cx="822960" cy="822960"/>
          </a:xfrm>
          <a:prstGeom prst="ellipse">
            <a:avLst/>
          </a:prstGeom>
          <a:solidFill>
            <a:srgbClr val="E8A33D"/>
          </a:solidFill>
          <a:ln/>
        </p:spPr>
      </p:sp>
      <p:sp>
        <p:nvSpPr>
          <p:cNvPr id="24" name="Text 22"/>
          <p:cNvSpPr/>
          <p:nvPr/>
        </p:nvSpPr>
        <p:spPr>
          <a:xfrm>
            <a:off x="9921240" y="2971800"/>
            <a:ext cx="822960" cy="822960"/>
          </a:xfrm>
          <a:prstGeom prst="rect">
            <a:avLst/>
          </a:prstGeom>
          <a:noFill/>
          <a:ln/>
        </p:spPr>
        <p:txBody>
          <a:bodyPr wrap="square" rtlCol="0" anchor="ctr"/>
          <a:lstStyle/>
          <a:p>
            <a:pPr marL="0" indent="0" algn="ctr">
              <a:buNone/>
            </a:pPr>
            <a:r>
              <a:rPr lang="en-US" sz="2400" b="1" dirty="0">
                <a:solidFill>
                  <a:srgbClr val="0B2F4A"/>
                </a:solidFill>
                <a:latin typeface="Calibri" pitchFamily="34" charset="0"/>
                <a:ea typeface="Calibri" pitchFamily="34" charset="-122"/>
                <a:cs typeface="Calibri" pitchFamily="34" charset="-120"/>
              </a:rPr>
              <a:t>W</a:t>
            </a:r>
            <a:endParaRPr lang="en-US" sz="2400" dirty="0"/>
          </a:p>
        </p:txBody>
      </p:sp>
      <p:sp>
        <p:nvSpPr>
          <p:cNvPr id="25" name="Text 23"/>
          <p:cNvSpPr/>
          <p:nvPr/>
        </p:nvSpPr>
        <p:spPr>
          <a:xfrm>
            <a:off x="9052560" y="3867912"/>
            <a:ext cx="2651760" cy="2743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Web App</a:t>
            </a:r>
            <a:endParaRPr lang="en-US" sz="1250" dirty="0"/>
          </a:p>
        </p:txBody>
      </p:sp>
      <p:sp>
        <p:nvSpPr>
          <p:cNvPr id="26" name="Shape 24"/>
          <p:cNvSpPr/>
          <p:nvPr/>
        </p:nvSpPr>
        <p:spPr>
          <a:xfrm>
            <a:off x="9692640" y="4297680"/>
            <a:ext cx="0" cy="502920"/>
          </a:xfrm>
          <a:prstGeom prst="line">
            <a:avLst/>
          </a:prstGeom>
          <a:noFill/>
          <a:ln w="25400">
            <a:solidFill>
              <a:srgbClr val="1C7293"/>
            </a:solidFill>
            <a:prstDash val="dash"/>
          </a:ln>
        </p:spPr>
      </p:sp>
      <p:sp>
        <p:nvSpPr>
          <p:cNvPr id="27" name="Shape 25"/>
          <p:cNvSpPr/>
          <p:nvPr/>
        </p:nvSpPr>
        <p:spPr>
          <a:xfrm>
            <a:off x="9921240" y="4846320"/>
            <a:ext cx="822960" cy="822960"/>
          </a:xfrm>
          <a:prstGeom prst="ellipse">
            <a:avLst/>
          </a:prstGeom>
          <a:solidFill>
            <a:srgbClr val="1C7293"/>
          </a:solidFill>
          <a:ln/>
        </p:spPr>
      </p:sp>
      <p:sp>
        <p:nvSpPr>
          <p:cNvPr id="28" name="Text 26"/>
          <p:cNvSpPr/>
          <p:nvPr/>
        </p:nvSpPr>
        <p:spPr>
          <a:xfrm>
            <a:off x="9921240" y="4846320"/>
            <a:ext cx="8229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M</a:t>
            </a:r>
            <a:endParaRPr lang="en-US" sz="2400" dirty="0"/>
          </a:p>
        </p:txBody>
      </p:sp>
      <p:sp>
        <p:nvSpPr>
          <p:cNvPr id="29" name="Text 27"/>
          <p:cNvSpPr/>
          <p:nvPr/>
        </p:nvSpPr>
        <p:spPr>
          <a:xfrm>
            <a:off x="9052560" y="5742432"/>
            <a:ext cx="2651760" cy="2743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Member</a:t>
            </a:r>
            <a:endParaRPr lang="en-US" sz="1250" dirty="0"/>
          </a:p>
        </p:txBody>
      </p:sp>
      <p:sp>
        <p:nvSpPr>
          <p:cNvPr id="30" name="Text 28"/>
          <p:cNvSpPr/>
          <p:nvPr/>
        </p:nvSpPr>
        <p:spPr>
          <a:xfrm>
            <a:off x="457200" y="6519672"/>
            <a:ext cx="5486400" cy="274320"/>
          </a:xfrm>
          <a:prstGeom prst="rect">
            <a:avLst/>
          </a:prstGeom>
          <a:noFill/>
          <a:ln/>
        </p:spPr>
        <p:txBody>
          <a:bodyPr wrap="square" rtlCol="0" anchor="ctr"/>
          <a:lstStyle/>
          <a:p>
            <a:pPr marL="0" indent="0" algn="l">
              <a:buNone/>
            </a:pPr>
            <a:r>
              <a:rPr lang="en-US" sz="900" dirty="0">
                <a:solidFill>
                  <a:srgbClr val="5B6B76"/>
                </a:solidFill>
                <a:latin typeface="Calibri" pitchFamily="34" charset="0"/>
                <a:ea typeface="Calibri" pitchFamily="34" charset="-122"/>
                <a:cs typeface="Calibri" pitchFamily="34" charset="-120"/>
              </a:rPr>
              <a:t>Library &amp; Archives Self-Service Platform</a:t>
            </a:r>
            <a:endParaRPr lang="en-US" sz="900" dirty="0"/>
          </a:p>
        </p:txBody>
      </p:sp>
      <p:sp>
        <p:nvSpPr>
          <p:cNvPr id="31" name="Text 29"/>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400" b="1" dirty="0">
                <a:solidFill>
                  <a:srgbClr val="0B2F4A"/>
                </a:solidFill>
                <a:latin typeface="Cambria" pitchFamily="34" charset="0"/>
                <a:ea typeface="Cambria" pitchFamily="34" charset="-122"/>
                <a:cs typeface="Cambria" pitchFamily="34" charset="-120"/>
              </a:rPr>
              <a:t>The Problem</a:t>
            </a:r>
            <a:endParaRPr lang="en-US" sz="3400" dirty="0"/>
          </a:p>
        </p:txBody>
      </p:sp>
      <p:sp>
        <p:nvSpPr>
          <p:cNvPr id="3" name="Text 1"/>
          <p:cNvSpPr/>
          <p:nvPr/>
        </p:nvSpPr>
        <p:spPr>
          <a:xfrm>
            <a:off x="548640" y="1051560"/>
            <a:ext cx="8686800" cy="365760"/>
          </a:xfrm>
          <a:prstGeom prst="rect">
            <a:avLst/>
          </a:prstGeom>
          <a:noFill/>
          <a:ln/>
        </p:spPr>
        <p:txBody>
          <a:bodyPr wrap="square" rtlCol="0" anchor="ctr"/>
          <a:lstStyle/>
          <a:p>
            <a:pPr marL="0" indent="0">
              <a:buNone/>
            </a:pPr>
            <a:r>
              <a:rPr lang="en-US" sz="1500" i="1" dirty="0">
                <a:solidFill>
                  <a:srgbClr val="1C7293"/>
                </a:solidFill>
                <a:latin typeface="Calibri" pitchFamily="34" charset="0"/>
                <a:ea typeface="Calibri" pitchFamily="34" charset="-122"/>
                <a:cs typeface="Calibri" pitchFamily="34" charset="-120"/>
              </a:rPr>
              <a:t>Traditional library workflows still hold members back</a:t>
            </a:r>
            <a:endParaRPr lang="en-US" sz="1500" dirty="0"/>
          </a:p>
        </p:txBody>
      </p:sp>
      <p:sp>
        <p:nvSpPr>
          <p:cNvPr id="4" name="Shape 2"/>
          <p:cNvSpPr/>
          <p:nvPr/>
        </p:nvSpPr>
        <p:spPr>
          <a:xfrm>
            <a:off x="9052560" y="457200"/>
            <a:ext cx="2651760" cy="5760720"/>
          </a:xfrm>
          <a:prstGeom prst="roundRect">
            <a:avLst>
              <a:gd name="adj" fmla="val 4138"/>
            </a:avLst>
          </a:prstGeom>
          <a:solidFill>
            <a:srgbClr val="0B2F4A"/>
          </a:solidFill>
          <a:ln/>
        </p:spPr>
      </p:sp>
      <p:sp>
        <p:nvSpPr>
          <p:cNvPr id="5" name="Shape 3"/>
          <p:cNvSpPr/>
          <p:nvPr/>
        </p:nvSpPr>
        <p:spPr>
          <a:xfrm>
            <a:off x="9418320" y="914400"/>
            <a:ext cx="1920240" cy="3566160"/>
          </a:xfrm>
          <a:prstGeom prst="roundRect">
            <a:avLst>
              <a:gd name="adj" fmla="val 11905"/>
            </a:avLst>
          </a:prstGeom>
          <a:solidFill>
            <a:srgbClr val="F4F8FA"/>
          </a:solidFill>
          <a:ln w="25400">
            <a:solidFill>
              <a:srgbClr val="1C7293"/>
            </a:solidFill>
            <a:prstDash val="solid"/>
          </a:ln>
        </p:spPr>
      </p:sp>
      <p:sp>
        <p:nvSpPr>
          <p:cNvPr id="6" name="Shape 4"/>
          <p:cNvSpPr/>
          <p:nvPr/>
        </p:nvSpPr>
        <p:spPr>
          <a:xfrm>
            <a:off x="9646920" y="1234440"/>
            <a:ext cx="1463040" cy="457200"/>
          </a:xfrm>
          <a:prstGeom prst="roundRect">
            <a:avLst>
              <a:gd name="adj" fmla="val 12000"/>
            </a:avLst>
          </a:prstGeom>
          <a:solidFill>
            <a:srgbClr val="CFE8F3"/>
          </a:solidFill>
          <a:ln/>
        </p:spPr>
      </p:sp>
      <p:sp>
        <p:nvSpPr>
          <p:cNvPr id="7" name="Shape 5"/>
          <p:cNvSpPr/>
          <p:nvPr/>
        </p:nvSpPr>
        <p:spPr>
          <a:xfrm>
            <a:off x="9646920" y="1874520"/>
            <a:ext cx="1463040" cy="146304"/>
          </a:xfrm>
          <a:prstGeom prst="rect">
            <a:avLst/>
          </a:prstGeom>
          <a:solidFill>
            <a:srgbClr val="1C7293"/>
          </a:solidFill>
          <a:ln/>
        </p:spPr>
      </p:sp>
      <p:sp>
        <p:nvSpPr>
          <p:cNvPr id="8" name="Shape 6"/>
          <p:cNvSpPr/>
          <p:nvPr/>
        </p:nvSpPr>
        <p:spPr>
          <a:xfrm>
            <a:off x="9646920" y="2194560"/>
            <a:ext cx="1463040" cy="146304"/>
          </a:xfrm>
          <a:prstGeom prst="rect">
            <a:avLst/>
          </a:prstGeom>
          <a:solidFill>
            <a:srgbClr val="CFE8F3"/>
          </a:solidFill>
          <a:ln/>
        </p:spPr>
      </p:sp>
      <p:sp>
        <p:nvSpPr>
          <p:cNvPr id="9" name="Shape 7"/>
          <p:cNvSpPr/>
          <p:nvPr/>
        </p:nvSpPr>
        <p:spPr>
          <a:xfrm>
            <a:off x="9646920" y="2514600"/>
            <a:ext cx="1463040" cy="146304"/>
          </a:xfrm>
          <a:prstGeom prst="rect">
            <a:avLst/>
          </a:prstGeom>
          <a:solidFill>
            <a:srgbClr val="1C7293"/>
          </a:solidFill>
          <a:ln/>
        </p:spPr>
      </p:sp>
      <p:sp>
        <p:nvSpPr>
          <p:cNvPr id="10" name="Shape 8"/>
          <p:cNvSpPr/>
          <p:nvPr/>
        </p:nvSpPr>
        <p:spPr>
          <a:xfrm>
            <a:off x="9646920" y="2834640"/>
            <a:ext cx="1463040" cy="146304"/>
          </a:xfrm>
          <a:prstGeom prst="rect">
            <a:avLst/>
          </a:prstGeom>
          <a:solidFill>
            <a:srgbClr val="CFE8F3"/>
          </a:solidFill>
          <a:ln/>
        </p:spPr>
      </p:sp>
      <p:sp>
        <p:nvSpPr>
          <p:cNvPr id="11" name="Text 9"/>
          <p:cNvSpPr/>
          <p:nvPr/>
        </p:nvSpPr>
        <p:spPr>
          <a:xfrm>
            <a:off x="9144000" y="4754880"/>
            <a:ext cx="2468880" cy="11887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Manual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processes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slow members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down</a:t>
            </a:r>
            <a:endParaRPr lang="en-US" sz="1200" dirty="0"/>
          </a:p>
        </p:txBody>
      </p:sp>
      <p:sp>
        <p:nvSpPr>
          <p:cNvPr id="12" name="Shape 10"/>
          <p:cNvSpPr/>
          <p:nvPr/>
        </p:nvSpPr>
        <p:spPr>
          <a:xfrm>
            <a:off x="548640" y="1737360"/>
            <a:ext cx="548640" cy="548640"/>
          </a:xfrm>
          <a:prstGeom prst="ellipse">
            <a:avLst/>
          </a:prstGeom>
          <a:solidFill>
            <a:srgbClr val="1C7293"/>
          </a:solidFill>
          <a:ln/>
        </p:spPr>
      </p:sp>
      <p:sp>
        <p:nvSpPr>
          <p:cNvPr id="13" name="Text 11"/>
          <p:cNvSpPr/>
          <p:nvPr/>
        </p:nvSpPr>
        <p:spPr>
          <a:xfrm>
            <a:off x="548640" y="173736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4" name="Text 12"/>
          <p:cNvSpPr/>
          <p:nvPr/>
        </p:nvSpPr>
        <p:spPr>
          <a:xfrm>
            <a:off x="1325880" y="1709928"/>
            <a:ext cx="7406640" cy="32004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Manual &amp; Web-Only Access</a:t>
            </a:r>
            <a:endParaRPr lang="en-US" sz="1600" dirty="0"/>
          </a:p>
        </p:txBody>
      </p:sp>
      <p:sp>
        <p:nvSpPr>
          <p:cNvPr id="15" name="Text 13"/>
          <p:cNvSpPr/>
          <p:nvPr/>
        </p:nvSpPr>
        <p:spPr>
          <a:xfrm>
            <a:off x="1325880" y="2029968"/>
            <a:ext cx="7406640" cy="502920"/>
          </a:xfrm>
          <a:prstGeom prst="rect">
            <a:avLst/>
          </a:prstGeom>
          <a:noFill/>
          <a:ln/>
        </p:spPr>
        <p:txBody>
          <a:bodyPr wrap="square" rtlCol="0" anchor="ctr"/>
          <a:lstStyle/>
          <a:p>
            <a:pPr marL="0" indent="0">
              <a:buNone/>
            </a:pPr>
            <a:r>
              <a:rPr lang="en-US" sz="1250" dirty="0">
                <a:solidFill>
                  <a:srgbClr val="5B6B76"/>
                </a:solidFill>
                <a:latin typeface="Calibri" pitchFamily="34" charset="0"/>
                <a:ea typeface="Calibri" pitchFamily="34" charset="-122"/>
                <a:cs typeface="Calibri" pitchFamily="34" charset="-120"/>
              </a:rPr>
              <a:t>Members rely on limited web portals or in-person visits to search, reserve, or renew items.</a:t>
            </a:r>
            <a:endParaRPr lang="en-US" sz="1250" dirty="0"/>
          </a:p>
        </p:txBody>
      </p:sp>
      <p:sp>
        <p:nvSpPr>
          <p:cNvPr id="16" name="Shape 14"/>
          <p:cNvSpPr/>
          <p:nvPr/>
        </p:nvSpPr>
        <p:spPr>
          <a:xfrm>
            <a:off x="548640" y="2788920"/>
            <a:ext cx="548640" cy="548640"/>
          </a:xfrm>
          <a:prstGeom prst="ellipse">
            <a:avLst/>
          </a:prstGeom>
          <a:solidFill>
            <a:srgbClr val="1C7293"/>
          </a:solidFill>
          <a:ln/>
        </p:spPr>
      </p:sp>
      <p:sp>
        <p:nvSpPr>
          <p:cNvPr id="17" name="Text 15"/>
          <p:cNvSpPr/>
          <p:nvPr/>
        </p:nvSpPr>
        <p:spPr>
          <a:xfrm>
            <a:off x="548640" y="278892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8" name="Text 16"/>
          <p:cNvSpPr/>
          <p:nvPr/>
        </p:nvSpPr>
        <p:spPr>
          <a:xfrm>
            <a:off x="1325880" y="2761488"/>
            <a:ext cx="7406640" cy="32004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Time-Consuming Processes</a:t>
            </a:r>
            <a:endParaRPr lang="en-US" sz="1600" dirty="0"/>
          </a:p>
        </p:txBody>
      </p:sp>
      <p:sp>
        <p:nvSpPr>
          <p:cNvPr id="19" name="Text 17"/>
          <p:cNvSpPr/>
          <p:nvPr/>
        </p:nvSpPr>
        <p:spPr>
          <a:xfrm>
            <a:off x="1325880" y="3081528"/>
            <a:ext cx="7406640" cy="502920"/>
          </a:xfrm>
          <a:prstGeom prst="rect">
            <a:avLst/>
          </a:prstGeom>
          <a:noFill/>
          <a:ln/>
        </p:spPr>
        <p:txBody>
          <a:bodyPr wrap="square" rtlCol="0" anchor="ctr"/>
          <a:lstStyle/>
          <a:p>
            <a:pPr marL="0" indent="0">
              <a:buNone/>
            </a:pPr>
            <a:r>
              <a:rPr lang="en-US" sz="1250" dirty="0">
                <a:solidFill>
                  <a:srgbClr val="5B6B76"/>
                </a:solidFill>
                <a:latin typeface="Calibri" pitchFamily="34" charset="0"/>
                <a:ea typeface="Calibri" pitchFamily="34" charset="-122"/>
                <a:cs typeface="Calibri" pitchFamily="34" charset="-120"/>
              </a:rPr>
              <a:t>Checking due dates, fines, and reservations takes physical visits or slow lookups.</a:t>
            </a:r>
            <a:endParaRPr lang="en-US" sz="1250" dirty="0"/>
          </a:p>
        </p:txBody>
      </p:sp>
      <p:sp>
        <p:nvSpPr>
          <p:cNvPr id="20" name="Shape 18"/>
          <p:cNvSpPr/>
          <p:nvPr/>
        </p:nvSpPr>
        <p:spPr>
          <a:xfrm>
            <a:off x="548640" y="3840480"/>
            <a:ext cx="548640" cy="548640"/>
          </a:xfrm>
          <a:prstGeom prst="ellipse">
            <a:avLst/>
          </a:prstGeom>
          <a:solidFill>
            <a:srgbClr val="1C7293"/>
          </a:solidFill>
          <a:ln/>
        </p:spPr>
      </p:sp>
      <p:sp>
        <p:nvSpPr>
          <p:cNvPr id="21" name="Text 19"/>
          <p:cNvSpPr/>
          <p:nvPr/>
        </p:nvSpPr>
        <p:spPr>
          <a:xfrm>
            <a:off x="548640" y="384048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Text 20"/>
          <p:cNvSpPr/>
          <p:nvPr/>
        </p:nvSpPr>
        <p:spPr>
          <a:xfrm>
            <a:off x="1325880" y="3813048"/>
            <a:ext cx="7406640" cy="32004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Fragmented Records</a:t>
            </a:r>
            <a:endParaRPr lang="en-US" sz="1600" dirty="0"/>
          </a:p>
        </p:txBody>
      </p:sp>
      <p:sp>
        <p:nvSpPr>
          <p:cNvPr id="23" name="Text 21"/>
          <p:cNvSpPr/>
          <p:nvPr/>
        </p:nvSpPr>
        <p:spPr>
          <a:xfrm>
            <a:off x="1325880" y="4133088"/>
            <a:ext cx="7406640" cy="502920"/>
          </a:xfrm>
          <a:prstGeom prst="rect">
            <a:avLst/>
          </a:prstGeom>
          <a:noFill/>
          <a:ln/>
        </p:spPr>
        <p:txBody>
          <a:bodyPr wrap="square" rtlCol="0" anchor="ctr"/>
          <a:lstStyle/>
          <a:p>
            <a:pPr marL="0" indent="0">
              <a:buNone/>
            </a:pPr>
            <a:r>
              <a:rPr lang="en-US" sz="1250" dirty="0">
                <a:solidFill>
                  <a:srgbClr val="5B6B76"/>
                </a:solidFill>
                <a:latin typeface="Calibri" pitchFamily="34" charset="0"/>
                <a:ea typeface="Calibri" pitchFamily="34" charset="-122"/>
                <a:cs typeface="Calibri" pitchFamily="34" charset="-120"/>
              </a:rPr>
              <a:t>Borrowing history, fines, and reservations are scattered across manual registers or disconnected systems.</a:t>
            </a:r>
            <a:endParaRPr lang="en-US" sz="1250" dirty="0"/>
          </a:p>
        </p:txBody>
      </p:sp>
      <p:sp>
        <p:nvSpPr>
          <p:cNvPr id="24" name="Shape 22"/>
          <p:cNvSpPr/>
          <p:nvPr/>
        </p:nvSpPr>
        <p:spPr>
          <a:xfrm>
            <a:off x="548640" y="4892040"/>
            <a:ext cx="548640" cy="548640"/>
          </a:xfrm>
          <a:prstGeom prst="ellipse">
            <a:avLst/>
          </a:prstGeom>
          <a:solidFill>
            <a:srgbClr val="1C7293"/>
          </a:solidFill>
          <a:ln/>
        </p:spPr>
      </p:sp>
      <p:sp>
        <p:nvSpPr>
          <p:cNvPr id="25" name="Text 23"/>
          <p:cNvSpPr/>
          <p:nvPr/>
        </p:nvSpPr>
        <p:spPr>
          <a:xfrm>
            <a:off x="548640" y="48920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6" name="Text 24"/>
          <p:cNvSpPr/>
          <p:nvPr/>
        </p:nvSpPr>
        <p:spPr>
          <a:xfrm>
            <a:off x="1325880" y="4864608"/>
            <a:ext cx="7406640" cy="32004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Weak Communication</a:t>
            </a:r>
            <a:endParaRPr lang="en-US" sz="1600" dirty="0"/>
          </a:p>
        </p:txBody>
      </p:sp>
      <p:sp>
        <p:nvSpPr>
          <p:cNvPr id="27" name="Text 25"/>
          <p:cNvSpPr/>
          <p:nvPr/>
        </p:nvSpPr>
        <p:spPr>
          <a:xfrm>
            <a:off x="1325880" y="5184648"/>
            <a:ext cx="7406640" cy="502920"/>
          </a:xfrm>
          <a:prstGeom prst="rect">
            <a:avLst/>
          </a:prstGeom>
          <a:noFill/>
          <a:ln/>
        </p:spPr>
        <p:txBody>
          <a:bodyPr wrap="square" rtlCol="0" anchor="ctr"/>
          <a:lstStyle/>
          <a:p>
            <a:pPr marL="0" indent="0">
              <a:buNone/>
            </a:pPr>
            <a:r>
              <a:rPr lang="en-US" sz="1250" dirty="0">
                <a:solidFill>
                  <a:srgbClr val="5B6B76"/>
                </a:solidFill>
                <a:latin typeface="Calibri" pitchFamily="34" charset="0"/>
                <a:ea typeface="Calibri" pitchFamily="34" charset="-122"/>
                <a:cs typeface="Calibri" pitchFamily="34" charset="-120"/>
              </a:rPr>
              <a:t>Members miss due-date reminders, reservation updates, and library announcements.</a:t>
            </a:r>
            <a:endParaRPr lang="en-US" sz="1250" dirty="0"/>
          </a:p>
        </p:txBody>
      </p:sp>
      <p:sp>
        <p:nvSpPr>
          <p:cNvPr id="28" name="Text 26"/>
          <p:cNvSpPr/>
          <p:nvPr/>
        </p:nvSpPr>
        <p:spPr>
          <a:xfrm>
            <a:off x="457200" y="6519672"/>
            <a:ext cx="5486400" cy="274320"/>
          </a:xfrm>
          <a:prstGeom prst="rect">
            <a:avLst/>
          </a:prstGeom>
          <a:noFill/>
          <a:ln/>
        </p:spPr>
        <p:txBody>
          <a:bodyPr wrap="square" rtlCol="0" anchor="ctr"/>
          <a:lstStyle/>
          <a:p>
            <a:pPr marL="0" indent="0" algn="l">
              <a:buNone/>
            </a:pPr>
            <a:r>
              <a:rPr lang="en-US" sz="900" dirty="0">
                <a:solidFill>
                  <a:srgbClr val="5B6B76"/>
                </a:solidFill>
                <a:latin typeface="Calibri" pitchFamily="34" charset="0"/>
                <a:ea typeface="Calibri" pitchFamily="34" charset="-122"/>
                <a:cs typeface="Calibri" pitchFamily="34" charset="-120"/>
              </a:rPr>
              <a:t>Library &amp; Archives Self-Service Platform</a:t>
            </a:r>
            <a:endParaRPr lang="en-US" sz="900" dirty="0"/>
          </a:p>
        </p:txBody>
      </p:sp>
      <p:sp>
        <p:nvSpPr>
          <p:cNvPr id="29" name="Text 27"/>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F4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 Solution</a:t>
            </a:r>
            <a:endParaRPr lang="en-US" sz="3400" dirty="0"/>
          </a:p>
        </p:txBody>
      </p:sp>
      <p:sp>
        <p:nvSpPr>
          <p:cNvPr id="3" name="Text 1"/>
          <p:cNvSpPr/>
          <p:nvPr/>
        </p:nvSpPr>
        <p:spPr>
          <a:xfrm>
            <a:off x="548640" y="1051560"/>
            <a:ext cx="9601200" cy="365760"/>
          </a:xfrm>
          <a:prstGeom prst="rect">
            <a:avLst/>
          </a:prstGeom>
          <a:noFill/>
          <a:ln/>
        </p:spPr>
        <p:txBody>
          <a:bodyPr wrap="square" rtlCol="0" anchor="ctr"/>
          <a:lstStyle/>
          <a:p>
            <a:pPr marL="0" indent="0">
              <a:buNone/>
            </a:pPr>
            <a:r>
              <a:rPr lang="en-US" sz="1500" i="1" dirty="0">
                <a:solidFill>
                  <a:srgbClr val="E8A33D"/>
                </a:solidFill>
                <a:latin typeface="Calibri" pitchFamily="34" charset="0"/>
                <a:ea typeface="Calibri" pitchFamily="34" charset="-122"/>
                <a:cs typeface="Calibri" pitchFamily="34" charset="-120"/>
              </a:rPr>
              <a:t>A self-service web platform members can use anytime, anywhere</a:t>
            </a:r>
            <a:endParaRPr lang="en-US" sz="1500" dirty="0"/>
          </a:p>
        </p:txBody>
      </p:sp>
      <p:sp>
        <p:nvSpPr>
          <p:cNvPr id="4" name="Shape 2"/>
          <p:cNvSpPr/>
          <p:nvPr/>
        </p:nvSpPr>
        <p:spPr>
          <a:xfrm>
            <a:off x="548640" y="1737360"/>
            <a:ext cx="3520440" cy="1965960"/>
          </a:xfrm>
          <a:prstGeom prst="roundRect">
            <a:avLst>
              <a:gd name="adj" fmla="val 4651"/>
            </a:avLst>
          </a:prstGeom>
          <a:solidFill>
            <a:srgbClr val="21295C"/>
          </a:solidFill>
          <a:ln/>
        </p:spPr>
      </p:sp>
      <p:sp>
        <p:nvSpPr>
          <p:cNvPr id="5" name="Shape 3"/>
          <p:cNvSpPr/>
          <p:nvPr/>
        </p:nvSpPr>
        <p:spPr>
          <a:xfrm>
            <a:off x="777240" y="1965960"/>
            <a:ext cx="502920" cy="502920"/>
          </a:xfrm>
          <a:prstGeom prst="ellipse">
            <a:avLst/>
          </a:prstGeom>
          <a:solidFill>
            <a:srgbClr val="E8A33D"/>
          </a:solidFill>
          <a:ln/>
        </p:spPr>
      </p:sp>
      <p:sp>
        <p:nvSpPr>
          <p:cNvPr id="6" name="Text 4"/>
          <p:cNvSpPr/>
          <p:nvPr/>
        </p:nvSpPr>
        <p:spPr>
          <a:xfrm>
            <a:off x="777240" y="196596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R</a:t>
            </a:r>
            <a:endParaRPr lang="en-US" sz="1800" dirty="0"/>
          </a:p>
        </p:txBody>
      </p:sp>
      <p:sp>
        <p:nvSpPr>
          <p:cNvPr id="7" name="Text 5"/>
          <p:cNvSpPr/>
          <p:nvPr/>
        </p:nvSpPr>
        <p:spPr>
          <a:xfrm>
            <a:off x="1417320" y="1938528"/>
            <a:ext cx="2468880" cy="5486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Register &amp; Browse</a:t>
            </a:r>
            <a:endParaRPr lang="en-US" sz="1500" dirty="0"/>
          </a:p>
        </p:txBody>
      </p:sp>
      <p:sp>
        <p:nvSpPr>
          <p:cNvPr id="8" name="Text 6"/>
          <p:cNvSpPr/>
          <p:nvPr/>
        </p:nvSpPr>
        <p:spPr>
          <a:xfrm>
            <a:off x="777240" y="2606040"/>
            <a:ext cx="3063240" cy="96012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Sign up, search books and assets, and explore the full catalog online.</a:t>
            </a:r>
            <a:endParaRPr lang="en-US" sz="1150" dirty="0"/>
          </a:p>
        </p:txBody>
      </p:sp>
      <p:sp>
        <p:nvSpPr>
          <p:cNvPr id="9" name="Shape 7"/>
          <p:cNvSpPr/>
          <p:nvPr/>
        </p:nvSpPr>
        <p:spPr>
          <a:xfrm>
            <a:off x="4297680" y="1737360"/>
            <a:ext cx="3520440" cy="1965960"/>
          </a:xfrm>
          <a:prstGeom prst="roundRect">
            <a:avLst>
              <a:gd name="adj" fmla="val 4651"/>
            </a:avLst>
          </a:prstGeom>
          <a:solidFill>
            <a:srgbClr val="21295C"/>
          </a:solidFill>
          <a:ln/>
        </p:spPr>
      </p:sp>
      <p:sp>
        <p:nvSpPr>
          <p:cNvPr id="10" name="Shape 8"/>
          <p:cNvSpPr/>
          <p:nvPr/>
        </p:nvSpPr>
        <p:spPr>
          <a:xfrm>
            <a:off x="4526280" y="1965960"/>
            <a:ext cx="502920" cy="502920"/>
          </a:xfrm>
          <a:prstGeom prst="ellipse">
            <a:avLst/>
          </a:prstGeom>
          <a:solidFill>
            <a:srgbClr val="E8A33D"/>
          </a:solidFill>
          <a:ln/>
        </p:spPr>
      </p:sp>
      <p:sp>
        <p:nvSpPr>
          <p:cNvPr id="11" name="Text 9"/>
          <p:cNvSpPr/>
          <p:nvPr/>
        </p:nvSpPr>
        <p:spPr>
          <a:xfrm>
            <a:off x="4526280" y="196596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5166360" y="1938528"/>
            <a:ext cx="2468880" cy="5486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Reserve Resources</a:t>
            </a:r>
            <a:endParaRPr lang="en-US" sz="1500" dirty="0"/>
          </a:p>
        </p:txBody>
      </p:sp>
      <p:sp>
        <p:nvSpPr>
          <p:cNvPr id="13" name="Text 11"/>
          <p:cNvSpPr/>
          <p:nvPr/>
        </p:nvSpPr>
        <p:spPr>
          <a:xfrm>
            <a:off x="4526280" y="2606040"/>
            <a:ext cx="3063240" cy="96012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Reserve available items instantly and track borrowing history in one place.</a:t>
            </a:r>
            <a:endParaRPr lang="en-US" sz="1150" dirty="0"/>
          </a:p>
        </p:txBody>
      </p:sp>
      <p:sp>
        <p:nvSpPr>
          <p:cNvPr id="14" name="Shape 12"/>
          <p:cNvSpPr/>
          <p:nvPr/>
        </p:nvSpPr>
        <p:spPr>
          <a:xfrm>
            <a:off x="8046720" y="1737360"/>
            <a:ext cx="3520440" cy="1965960"/>
          </a:xfrm>
          <a:prstGeom prst="roundRect">
            <a:avLst>
              <a:gd name="adj" fmla="val 4651"/>
            </a:avLst>
          </a:prstGeom>
          <a:solidFill>
            <a:srgbClr val="21295C"/>
          </a:solidFill>
          <a:ln/>
        </p:spPr>
      </p:sp>
      <p:sp>
        <p:nvSpPr>
          <p:cNvPr id="15" name="Shape 13"/>
          <p:cNvSpPr/>
          <p:nvPr/>
        </p:nvSpPr>
        <p:spPr>
          <a:xfrm>
            <a:off x="8275320" y="1965960"/>
            <a:ext cx="502920" cy="502920"/>
          </a:xfrm>
          <a:prstGeom prst="ellipse">
            <a:avLst/>
          </a:prstGeom>
          <a:solidFill>
            <a:srgbClr val="E8A33D"/>
          </a:solidFill>
          <a:ln/>
        </p:spPr>
      </p:sp>
      <p:sp>
        <p:nvSpPr>
          <p:cNvPr id="16" name="Text 14"/>
          <p:cNvSpPr/>
          <p:nvPr/>
        </p:nvSpPr>
        <p:spPr>
          <a:xfrm>
            <a:off x="8275320" y="196596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8915400" y="1938528"/>
            <a:ext cx="2468880" cy="5486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Monitor Fines</a:t>
            </a:r>
            <a:endParaRPr lang="en-US" sz="1500" dirty="0"/>
          </a:p>
        </p:txBody>
      </p:sp>
      <p:sp>
        <p:nvSpPr>
          <p:cNvPr id="18" name="Text 16"/>
          <p:cNvSpPr/>
          <p:nvPr/>
        </p:nvSpPr>
        <p:spPr>
          <a:xfrm>
            <a:off x="8275320" y="2606040"/>
            <a:ext cx="3063240" cy="96012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View outstanding fines and due dates without a trip to the front desk.</a:t>
            </a:r>
            <a:endParaRPr lang="en-US" sz="1150" dirty="0"/>
          </a:p>
        </p:txBody>
      </p:sp>
      <p:sp>
        <p:nvSpPr>
          <p:cNvPr id="19" name="Shape 17"/>
          <p:cNvSpPr/>
          <p:nvPr/>
        </p:nvSpPr>
        <p:spPr>
          <a:xfrm>
            <a:off x="548640" y="3977640"/>
            <a:ext cx="3520440" cy="1965960"/>
          </a:xfrm>
          <a:prstGeom prst="roundRect">
            <a:avLst>
              <a:gd name="adj" fmla="val 4651"/>
            </a:avLst>
          </a:prstGeom>
          <a:solidFill>
            <a:srgbClr val="21295C"/>
          </a:solidFill>
          <a:ln/>
        </p:spPr>
      </p:sp>
      <p:sp>
        <p:nvSpPr>
          <p:cNvPr id="20" name="Shape 18"/>
          <p:cNvSpPr/>
          <p:nvPr/>
        </p:nvSpPr>
        <p:spPr>
          <a:xfrm>
            <a:off x="777240" y="4206240"/>
            <a:ext cx="502920" cy="502920"/>
          </a:xfrm>
          <a:prstGeom prst="ellipse">
            <a:avLst/>
          </a:prstGeom>
          <a:solidFill>
            <a:srgbClr val="E8A33D"/>
          </a:solidFill>
          <a:ln/>
        </p:spPr>
      </p:sp>
      <p:sp>
        <p:nvSpPr>
          <p:cNvPr id="21" name="Text 19"/>
          <p:cNvSpPr/>
          <p:nvPr/>
        </p:nvSpPr>
        <p:spPr>
          <a:xfrm>
            <a:off x="777240" y="420624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1417320" y="4178808"/>
            <a:ext cx="2468880" cy="5486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Get Notified</a:t>
            </a:r>
            <a:endParaRPr lang="en-US" sz="1500" dirty="0"/>
          </a:p>
        </p:txBody>
      </p:sp>
      <p:sp>
        <p:nvSpPr>
          <p:cNvPr id="23" name="Text 21"/>
          <p:cNvSpPr/>
          <p:nvPr/>
        </p:nvSpPr>
        <p:spPr>
          <a:xfrm>
            <a:off x="777240" y="4846320"/>
            <a:ext cx="3063240" cy="96012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Real-time alerts for due dates, reservations, and library announcements.</a:t>
            </a:r>
            <a:endParaRPr lang="en-US" sz="1150" dirty="0"/>
          </a:p>
        </p:txBody>
      </p:sp>
      <p:sp>
        <p:nvSpPr>
          <p:cNvPr id="24" name="Shape 22"/>
          <p:cNvSpPr/>
          <p:nvPr/>
        </p:nvSpPr>
        <p:spPr>
          <a:xfrm>
            <a:off x="4297680" y="3977640"/>
            <a:ext cx="3520440" cy="1965960"/>
          </a:xfrm>
          <a:prstGeom prst="roundRect">
            <a:avLst>
              <a:gd name="adj" fmla="val 4651"/>
            </a:avLst>
          </a:prstGeom>
          <a:solidFill>
            <a:srgbClr val="21295C"/>
          </a:solidFill>
          <a:ln/>
        </p:spPr>
      </p:sp>
      <p:sp>
        <p:nvSpPr>
          <p:cNvPr id="25" name="Shape 23"/>
          <p:cNvSpPr/>
          <p:nvPr/>
        </p:nvSpPr>
        <p:spPr>
          <a:xfrm>
            <a:off x="4526280" y="4206240"/>
            <a:ext cx="502920" cy="502920"/>
          </a:xfrm>
          <a:prstGeom prst="ellipse">
            <a:avLst/>
          </a:prstGeom>
          <a:solidFill>
            <a:srgbClr val="E8A33D"/>
          </a:solidFill>
          <a:ln/>
        </p:spPr>
      </p:sp>
      <p:sp>
        <p:nvSpPr>
          <p:cNvPr id="26" name="Text 24"/>
          <p:cNvSpPr/>
          <p:nvPr/>
        </p:nvSpPr>
        <p:spPr>
          <a:xfrm>
            <a:off x="4526280" y="420624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O</a:t>
            </a:r>
            <a:endParaRPr lang="en-US" sz="1800" dirty="0"/>
          </a:p>
        </p:txBody>
      </p:sp>
      <p:sp>
        <p:nvSpPr>
          <p:cNvPr id="27" name="Text 25"/>
          <p:cNvSpPr/>
          <p:nvPr/>
        </p:nvSpPr>
        <p:spPr>
          <a:xfrm>
            <a:off x="5166360" y="4178808"/>
            <a:ext cx="2468880" cy="5486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Local Caching</a:t>
            </a:r>
            <a:endParaRPr lang="en-US" sz="1500" dirty="0"/>
          </a:p>
        </p:txBody>
      </p:sp>
      <p:sp>
        <p:nvSpPr>
          <p:cNvPr id="28" name="Text 26"/>
          <p:cNvSpPr/>
          <p:nvPr/>
        </p:nvSpPr>
        <p:spPr>
          <a:xfrm>
            <a:off x="4526280" y="4846320"/>
            <a:ext cx="3063240" cy="96012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Recently viewed data stays accessible even during brief connectivity drops.</a:t>
            </a:r>
            <a:endParaRPr lang="en-US" sz="1150" dirty="0"/>
          </a:p>
        </p:txBody>
      </p:sp>
      <p:sp>
        <p:nvSpPr>
          <p:cNvPr id="29" name="Shape 27"/>
          <p:cNvSpPr/>
          <p:nvPr/>
        </p:nvSpPr>
        <p:spPr>
          <a:xfrm>
            <a:off x="8046720" y="3977640"/>
            <a:ext cx="3520440" cy="1965960"/>
          </a:xfrm>
          <a:prstGeom prst="roundRect">
            <a:avLst>
              <a:gd name="adj" fmla="val 4651"/>
            </a:avLst>
          </a:prstGeom>
          <a:solidFill>
            <a:srgbClr val="21295C"/>
          </a:solidFill>
          <a:ln/>
        </p:spPr>
      </p:sp>
      <p:sp>
        <p:nvSpPr>
          <p:cNvPr id="30" name="Shape 28"/>
          <p:cNvSpPr/>
          <p:nvPr/>
        </p:nvSpPr>
        <p:spPr>
          <a:xfrm>
            <a:off x="8275320" y="4206240"/>
            <a:ext cx="502920" cy="502920"/>
          </a:xfrm>
          <a:prstGeom prst="ellipse">
            <a:avLst/>
          </a:prstGeom>
          <a:solidFill>
            <a:srgbClr val="E8A33D"/>
          </a:solidFill>
          <a:ln/>
        </p:spPr>
      </p:sp>
      <p:sp>
        <p:nvSpPr>
          <p:cNvPr id="31" name="Text 29"/>
          <p:cNvSpPr/>
          <p:nvPr/>
        </p:nvSpPr>
        <p:spPr>
          <a:xfrm>
            <a:off x="8275320" y="420624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S</a:t>
            </a:r>
            <a:endParaRPr lang="en-US" sz="1800" dirty="0"/>
          </a:p>
        </p:txBody>
      </p:sp>
      <p:sp>
        <p:nvSpPr>
          <p:cNvPr id="32" name="Text 30"/>
          <p:cNvSpPr/>
          <p:nvPr/>
        </p:nvSpPr>
        <p:spPr>
          <a:xfrm>
            <a:off x="8915400" y="4178808"/>
            <a:ext cx="2468880" cy="5486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Stay in Sync</a:t>
            </a:r>
            <a:endParaRPr lang="en-US" sz="1500" dirty="0"/>
          </a:p>
        </p:txBody>
      </p:sp>
      <p:sp>
        <p:nvSpPr>
          <p:cNvPr id="33" name="Text 31"/>
          <p:cNvSpPr/>
          <p:nvPr/>
        </p:nvSpPr>
        <p:spPr>
          <a:xfrm>
            <a:off x="8275320" y="4846320"/>
            <a:ext cx="3063240" cy="96012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Background synchronization keeps local and server data consistent.</a:t>
            </a:r>
            <a:endParaRPr lang="en-US" sz="1150" dirty="0"/>
          </a:p>
        </p:txBody>
      </p:sp>
      <p:sp>
        <p:nvSpPr>
          <p:cNvPr id="34" name="Text 32"/>
          <p:cNvSpPr/>
          <p:nvPr/>
        </p:nvSpPr>
        <p:spPr>
          <a:xfrm>
            <a:off x="457200" y="6519672"/>
            <a:ext cx="5486400" cy="274320"/>
          </a:xfrm>
          <a:prstGeom prst="rect">
            <a:avLst/>
          </a:prstGeom>
          <a:noFill/>
          <a:ln/>
        </p:spPr>
        <p:txBody>
          <a:bodyPr wrap="square" rtlCol="0" anchor="ctr"/>
          <a:lstStyle/>
          <a:p>
            <a:pPr marL="0" indent="0" algn="l">
              <a:buNone/>
            </a:pPr>
            <a:r>
              <a:rPr lang="en-US" sz="900" dirty="0">
                <a:solidFill>
                  <a:srgbClr val="6E90A8"/>
                </a:solidFill>
                <a:latin typeface="Calibri" pitchFamily="34" charset="0"/>
                <a:ea typeface="Calibri" pitchFamily="34" charset="-122"/>
                <a:cs typeface="Calibri" pitchFamily="34" charset="-120"/>
              </a:rPr>
              <a:t>Library &amp; Archives Self-Service Platform</a:t>
            </a:r>
            <a:endParaRPr lang="en-US" sz="900" dirty="0"/>
          </a:p>
        </p:txBody>
      </p:sp>
      <p:sp>
        <p:nvSpPr>
          <p:cNvPr id="35" name="Text 33"/>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6E90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0B2F4A"/>
                </a:solidFill>
                <a:latin typeface="Cambria" pitchFamily="34" charset="0"/>
                <a:ea typeface="Cambria" pitchFamily="34" charset="-122"/>
                <a:cs typeface="Cambria" pitchFamily="34" charset="-120"/>
              </a:rPr>
              <a:t>System Architecture</a:t>
            </a:r>
            <a:endParaRPr lang="en-US" sz="3200" dirty="0"/>
          </a:p>
        </p:txBody>
      </p:sp>
      <p:sp>
        <p:nvSpPr>
          <p:cNvPr id="3" name="Text 1"/>
          <p:cNvSpPr/>
          <p:nvPr/>
        </p:nvSpPr>
        <p:spPr>
          <a:xfrm>
            <a:off x="548640" y="987552"/>
            <a:ext cx="8961120" cy="365760"/>
          </a:xfrm>
          <a:prstGeom prst="rect">
            <a:avLst/>
          </a:prstGeom>
          <a:noFill/>
          <a:ln/>
        </p:spPr>
        <p:txBody>
          <a:bodyPr wrap="square"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A three-tier web architecture: React.js, Node.js, and MySQL</a:t>
            </a:r>
            <a:endParaRPr lang="en-US" sz="1400" dirty="0"/>
          </a:p>
        </p:txBody>
      </p:sp>
      <p:sp>
        <p:nvSpPr>
          <p:cNvPr id="4" name="Shape 2"/>
          <p:cNvSpPr/>
          <p:nvPr/>
        </p:nvSpPr>
        <p:spPr>
          <a:xfrm>
            <a:off x="548640" y="1600200"/>
            <a:ext cx="3246120" cy="3977640"/>
          </a:xfrm>
          <a:prstGeom prst="roundRect">
            <a:avLst>
              <a:gd name="adj" fmla="val 2817"/>
            </a:avLst>
          </a:prstGeom>
          <a:solidFill>
            <a:srgbClr val="F4F8FA"/>
          </a:solidFill>
          <a:ln w="19050">
            <a:solidFill>
              <a:srgbClr val="1C7293"/>
            </a:solidFill>
            <a:prstDash val="solid"/>
          </a:ln>
        </p:spPr>
      </p:sp>
      <p:sp>
        <p:nvSpPr>
          <p:cNvPr id="5" name="Shape 3"/>
          <p:cNvSpPr/>
          <p:nvPr/>
        </p:nvSpPr>
        <p:spPr>
          <a:xfrm>
            <a:off x="548640" y="1600200"/>
            <a:ext cx="3246120" cy="777240"/>
          </a:xfrm>
          <a:prstGeom prst="roundRect">
            <a:avLst>
              <a:gd name="adj" fmla="val 11765"/>
            </a:avLst>
          </a:prstGeom>
          <a:solidFill>
            <a:srgbClr val="1C7293"/>
          </a:solidFill>
          <a:ln/>
        </p:spPr>
      </p:sp>
      <p:sp>
        <p:nvSpPr>
          <p:cNvPr id="6" name="Shape 4"/>
          <p:cNvSpPr/>
          <p:nvPr/>
        </p:nvSpPr>
        <p:spPr>
          <a:xfrm>
            <a:off x="548640" y="2011680"/>
            <a:ext cx="3246120" cy="365760"/>
          </a:xfrm>
          <a:prstGeom prst="rect">
            <a:avLst/>
          </a:prstGeom>
          <a:solidFill>
            <a:srgbClr val="1C7293"/>
          </a:solidFill>
          <a:ln/>
        </p:spPr>
      </p:sp>
      <p:sp>
        <p:nvSpPr>
          <p:cNvPr id="7" name="Text 5"/>
          <p:cNvSpPr/>
          <p:nvPr/>
        </p:nvSpPr>
        <p:spPr>
          <a:xfrm>
            <a:off x="731520" y="1645920"/>
            <a:ext cx="288036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Frontend</a:t>
            </a:r>
            <a:endParaRPr lang="en-US" sz="1700" dirty="0"/>
          </a:p>
        </p:txBody>
      </p:sp>
      <p:sp>
        <p:nvSpPr>
          <p:cNvPr id="8" name="Text 6"/>
          <p:cNvSpPr/>
          <p:nvPr/>
        </p:nvSpPr>
        <p:spPr>
          <a:xfrm>
            <a:off x="731520" y="2011680"/>
            <a:ext cx="2880360" cy="320040"/>
          </a:xfrm>
          <a:prstGeom prst="rect">
            <a:avLst/>
          </a:prstGeom>
          <a:noFill/>
          <a:ln/>
        </p:spPr>
        <p:txBody>
          <a:bodyPr wrap="square" rtlCol="0" anchor="ctr"/>
          <a:lstStyle/>
          <a:p>
            <a:pPr marL="0" indent="0">
              <a:buNone/>
            </a:pPr>
            <a:r>
              <a:rPr lang="en-US" sz="1050" dirty="0">
                <a:solidFill>
                  <a:srgbClr val="CFE8F3"/>
                </a:solidFill>
                <a:latin typeface="Calibri" pitchFamily="34" charset="0"/>
                <a:ea typeface="Calibri" pitchFamily="34" charset="-122"/>
                <a:cs typeface="Calibri" pitchFamily="34" charset="-120"/>
              </a:rPr>
              <a:t>React.js</a:t>
            </a:r>
            <a:endParaRPr lang="en-US" sz="1050" dirty="0"/>
          </a:p>
        </p:txBody>
      </p:sp>
      <p:sp>
        <p:nvSpPr>
          <p:cNvPr id="9" name="Shape 7"/>
          <p:cNvSpPr/>
          <p:nvPr/>
        </p:nvSpPr>
        <p:spPr>
          <a:xfrm>
            <a:off x="777240" y="2724912"/>
            <a:ext cx="109728" cy="109728"/>
          </a:xfrm>
          <a:prstGeom prst="ellipse">
            <a:avLst/>
          </a:prstGeom>
          <a:solidFill>
            <a:srgbClr val="1C7293"/>
          </a:solidFill>
          <a:ln/>
        </p:spPr>
      </p:sp>
      <p:sp>
        <p:nvSpPr>
          <p:cNvPr id="10" name="Text 8"/>
          <p:cNvSpPr/>
          <p:nvPr/>
        </p:nvSpPr>
        <p:spPr>
          <a:xfrm>
            <a:off x="1005840" y="2651760"/>
            <a:ext cx="260604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Component-based UI</a:t>
            </a:r>
            <a:endParaRPr lang="en-US" sz="1250" dirty="0"/>
          </a:p>
        </p:txBody>
      </p:sp>
      <p:sp>
        <p:nvSpPr>
          <p:cNvPr id="11" name="Shape 9"/>
          <p:cNvSpPr/>
          <p:nvPr/>
        </p:nvSpPr>
        <p:spPr>
          <a:xfrm>
            <a:off x="777240" y="3291840"/>
            <a:ext cx="109728" cy="109728"/>
          </a:xfrm>
          <a:prstGeom prst="ellipse">
            <a:avLst/>
          </a:prstGeom>
          <a:solidFill>
            <a:srgbClr val="1C7293"/>
          </a:solidFill>
          <a:ln/>
        </p:spPr>
      </p:sp>
      <p:sp>
        <p:nvSpPr>
          <p:cNvPr id="12" name="Text 10"/>
          <p:cNvSpPr/>
          <p:nvPr/>
        </p:nvSpPr>
        <p:spPr>
          <a:xfrm>
            <a:off x="1005840" y="3218688"/>
            <a:ext cx="260604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React Router (navigation)</a:t>
            </a:r>
            <a:endParaRPr lang="en-US" sz="1250" dirty="0"/>
          </a:p>
        </p:txBody>
      </p:sp>
      <p:sp>
        <p:nvSpPr>
          <p:cNvPr id="13" name="Shape 11"/>
          <p:cNvSpPr/>
          <p:nvPr/>
        </p:nvSpPr>
        <p:spPr>
          <a:xfrm>
            <a:off x="777240" y="3858768"/>
            <a:ext cx="109728" cy="109728"/>
          </a:xfrm>
          <a:prstGeom prst="ellipse">
            <a:avLst/>
          </a:prstGeom>
          <a:solidFill>
            <a:srgbClr val="1C7293"/>
          </a:solidFill>
          <a:ln/>
        </p:spPr>
      </p:sp>
      <p:sp>
        <p:nvSpPr>
          <p:cNvPr id="14" name="Text 12"/>
          <p:cNvSpPr/>
          <p:nvPr/>
        </p:nvSpPr>
        <p:spPr>
          <a:xfrm>
            <a:off x="1005840" y="3785616"/>
            <a:ext cx="260604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Axios (API calls)</a:t>
            </a:r>
            <a:endParaRPr lang="en-US" sz="1250" dirty="0"/>
          </a:p>
        </p:txBody>
      </p:sp>
      <p:sp>
        <p:nvSpPr>
          <p:cNvPr id="15" name="Shape 13"/>
          <p:cNvSpPr/>
          <p:nvPr/>
        </p:nvSpPr>
        <p:spPr>
          <a:xfrm>
            <a:off x="4343400" y="1600200"/>
            <a:ext cx="3246120" cy="3977640"/>
          </a:xfrm>
          <a:prstGeom prst="roundRect">
            <a:avLst>
              <a:gd name="adj" fmla="val 2817"/>
            </a:avLst>
          </a:prstGeom>
          <a:solidFill>
            <a:srgbClr val="F4F8FA"/>
          </a:solidFill>
          <a:ln w="19050">
            <a:solidFill>
              <a:srgbClr val="21295C"/>
            </a:solidFill>
            <a:prstDash val="solid"/>
          </a:ln>
        </p:spPr>
      </p:sp>
      <p:sp>
        <p:nvSpPr>
          <p:cNvPr id="16" name="Shape 14"/>
          <p:cNvSpPr/>
          <p:nvPr/>
        </p:nvSpPr>
        <p:spPr>
          <a:xfrm>
            <a:off x="4343400" y="1600200"/>
            <a:ext cx="3246120" cy="777240"/>
          </a:xfrm>
          <a:prstGeom prst="roundRect">
            <a:avLst>
              <a:gd name="adj" fmla="val 11765"/>
            </a:avLst>
          </a:prstGeom>
          <a:solidFill>
            <a:srgbClr val="21295C"/>
          </a:solidFill>
          <a:ln/>
        </p:spPr>
      </p:sp>
      <p:sp>
        <p:nvSpPr>
          <p:cNvPr id="17" name="Shape 15"/>
          <p:cNvSpPr/>
          <p:nvPr/>
        </p:nvSpPr>
        <p:spPr>
          <a:xfrm>
            <a:off x="4343400" y="2011680"/>
            <a:ext cx="3246120" cy="365760"/>
          </a:xfrm>
          <a:prstGeom prst="rect">
            <a:avLst/>
          </a:prstGeom>
          <a:solidFill>
            <a:srgbClr val="21295C"/>
          </a:solidFill>
          <a:ln/>
        </p:spPr>
      </p:sp>
      <p:sp>
        <p:nvSpPr>
          <p:cNvPr id="18" name="Text 16"/>
          <p:cNvSpPr/>
          <p:nvPr/>
        </p:nvSpPr>
        <p:spPr>
          <a:xfrm>
            <a:off x="4526280" y="1645920"/>
            <a:ext cx="288036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Backend</a:t>
            </a:r>
            <a:endParaRPr lang="en-US" sz="1700" dirty="0"/>
          </a:p>
        </p:txBody>
      </p:sp>
      <p:sp>
        <p:nvSpPr>
          <p:cNvPr id="19" name="Text 17"/>
          <p:cNvSpPr/>
          <p:nvPr/>
        </p:nvSpPr>
        <p:spPr>
          <a:xfrm>
            <a:off x="4526280" y="2011680"/>
            <a:ext cx="2880360" cy="320040"/>
          </a:xfrm>
          <a:prstGeom prst="rect">
            <a:avLst/>
          </a:prstGeom>
          <a:noFill/>
          <a:ln/>
        </p:spPr>
        <p:txBody>
          <a:bodyPr wrap="square" rtlCol="0" anchor="ctr"/>
          <a:lstStyle/>
          <a:p>
            <a:pPr marL="0" indent="0">
              <a:buNone/>
            </a:pPr>
            <a:r>
              <a:rPr lang="en-US" sz="1050" dirty="0">
                <a:solidFill>
                  <a:srgbClr val="CFE8F3"/>
                </a:solidFill>
                <a:latin typeface="Calibri" pitchFamily="34" charset="0"/>
                <a:ea typeface="Calibri" pitchFamily="34" charset="-122"/>
                <a:cs typeface="Calibri" pitchFamily="34" charset="-120"/>
              </a:rPr>
              <a:t>Node.js • Express.js</a:t>
            </a:r>
            <a:endParaRPr lang="en-US" sz="1050" dirty="0"/>
          </a:p>
        </p:txBody>
      </p:sp>
      <p:sp>
        <p:nvSpPr>
          <p:cNvPr id="20" name="Shape 18"/>
          <p:cNvSpPr/>
          <p:nvPr/>
        </p:nvSpPr>
        <p:spPr>
          <a:xfrm>
            <a:off x="4572000" y="2724912"/>
            <a:ext cx="109728" cy="109728"/>
          </a:xfrm>
          <a:prstGeom prst="ellipse">
            <a:avLst/>
          </a:prstGeom>
          <a:solidFill>
            <a:srgbClr val="21295C"/>
          </a:solidFill>
          <a:ln/>
        </p:spPr>
      </p:sp>
      <p:sp>
        <p:nvSpPr>
          <p:cNvPr id="21" name="Text 19"/>
          <p:cNvSpPr/>
          <p:nvPr/>
        </p:nvSpPr>
        <p:spPr>
          <a:xfrm>
            <a:off x="4800600" y="2651760"/>
            <a:ext cx="260604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REST Endpoints</a:t>
            </a:r>
            <a:endParaRPr lang="en-US" sz="1250" dirty="0"/>
          </a:p>
        </p:txBody>
      </p:sp>
      <p:sp>
        <p:nvSpPr>
          <p:cNvPr id="22" name="Shape 20"/>
          <p:cNvSpPr/>
          <p:nvPr/>
        </p:nvSpPr>
        <p:spPr>
          <a:xfrm>
            <a:off x="4572000" y="3291840"/>
            <a:ext cx="109728" cy="109728"/>
          </a:xfrm>
          <a:prstGeom prst="ellipse">
            <a:avLst/>
          </a:prstGeom>
          <a:solidFill>
            <a:srgbClr val="21295C"/>
          </a:solidFill>
          <a:ln/>
        </p:spPr>
      </p:sp>
      <p:sp>
        <p:nvSpPr>
          <p:cNvPr id="23" name="Text 21"/>
          <p:cNvSpPr/>
          <p:nvPr/>
        </p:nvSpPr>
        <p:spPr>
          <a:xfrm>
            <a:off x="4800600" y="3218688"/>
            <a:ext cx="260604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Business Logic Layer</a:t>
            </a:r>
            <a:endParaRPr lang="en-US" sz="1250" dirty="0"/>
          </a:p>
        </p:txBody>
      </p:sp>
      <p:sp>
        <p:nvSpPr>
          <p:cNvPr id="24" name="Shape 22"/>
          <p:cNvSpPr/>
          <p:nvPr/>
        </p:nvSpPr>
        <p:spPr>
          <a:xfrm>
            <a:off x="4572000" y="3858768"/>
            <a:ext cx="109728" cy="109728"/>
          </a:xfrm>
          <a:prstGeom prst="ellipse">
            <a:avLst/>
          </a:prstGeom>
          <a:solidFill>
            <a:srgbClr val="21295C"/>
          </a:solidFill>
          <a:ln/>
        </p:spPr>
      </p:sp>
      <p:sp>
        <p:nvSpPr>
          <p:cNvPr id="25" name="Text 23"/>
          <p:cNvSpPr/>
          <p:nvPr/>
        </p:nvSpPr>
        <p:spPr>
          <a:xfrm>
            <a:off x="4800600" y="3785616"/>
            <a:ext cx="260604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Auth &amp; Session Handling</a:t>
            </a:r>
            <a:endParaRPr lang="en-US" sz="1250" dirty="0"/>
          </a:p>
        </p:txBody>
      </p:sp>
      <p:sp>
        <p:nvSpPr>
          <p:cNvPr id="26" name="Shape 24"/>
          <p:cNvSpPr/>
          <p:nvPr/>
        </p:nvSpPr>
        <p:spPr>
          <a:xfrm>
            <a:off x="8138160" y="1600200"/>
            <a:ext cx="3246120" cy="3977640"/>
          </a:xfrm>
          <a:prstGeom prst="roundRect">
            <a:avLst>
              <a:gd name="adj" fmla="val 2817"/>
            </a:avLst>
          </a:prstGeom>
          <a:solidFill>
            <a:srgbClr val="F4F8FA"/>
          </a:solidFill>
          <a:ln w="19050">
            <a:solidFill>
              <a:srgbClr val="0B2F4A"/>
            </a:solidFill>
            <a:prstDash val="solid"/>
          </a:ln>
        </p:spPr>
      </p:sp>
      <p:sp>
        <p:nvSpPr>
          <p:cNvPr id="27" name="Shape 25"/>
          <p:cNvSpPr/>
          <p:nvPr/>
        </p:nvSpPr>
        <p:spPr>
          <a:xfrm>
            <a:off x="8138160" y="1600200"/>
            <a:ext cx="3246120" cy="777240"/>
          </a:xfrm>
          <a:prstGeom prst="roundRect">
            <a:avLst>
              <a:gd name="adj" fmla="val 11765"/>
            </a:avLst>
          </a:prstGeom>
          <a:solidFill>
            <a:srgbClr val="0B2F4A"/>
          </a:solidFill>
          <a:ln/>
        </p:spPr>
      </p:sp>
      <p:sp>
        <p:nvSpPr>
          <p:cNvPr id="28" name="Shape 26"/>
          <p:cNvSpPr/>
          <p:nvPr/>
        </p:nvSpPr>
        <p:spPr>
          <a:xfrm>
            <a:off x="8138160" y="2011680"/>
            <a:ext cx="3246120" cy="365760"/>
          </a:xfrm>
          <a:prstGeom prst="rect">
            <a:avLst/>
          </a:prstGeom>
          <a:solidFill>
            <a:srgbClr val="0B2F4A"/>
          </a:solidFill>
          <a:ln/>
        </p:spPr>
      </p:sp>
      <p:sp>
        <p:nvSpPr>
          <p:cNvPr id="29" name="Text 27"/>
          <p:cNvSpPr/>
          <p:nvPr/>
        </p:nvSpPr>
        <p:spPr>
          <a:xfrm>
            <a:off x="8321040" y="1645920"/>
            <a:ext cx="288036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Database</a:t>
            </a:r>
            <a:endParaRPr lang="en-US" sz="1700" dirty="0"/>
          </a:p>
        </p:txBody>
      </p:sp>
      <p:sp>
        <p:nvSpPr>
          <p:cNvPr id="30" name="Text 28"/>
          <p:cNvSpPr/>
          <p:nvPr/>
        </p:nvSpPr>
        <p:spPr>
          <a:xfrm>
            <a:off x="8321040" y="2011680"/>
            <a:ext cx="2880360" cy="320040"/>
          </a:xfrm>
          <a:prstGeom prst="rect">
            <a:avLst/>
          </a:prstGeom>
          <a:noFill/>
          <a:ln/>
        </p:spPr>
        <p:txBody>
          <a:bodyPr wrap="square" rtlCol="0" anchor="ctr"/>
          <a:lstStyle/>
          <a:p>
            <a:pPr marL="0" indent="0">
              <a:buNone/>
            </a:pPr>
            <a:r>
              <a:rPr lang="en-US" sz="1050" dirty="0">
                <a:solidFill>
                  <a:srgbClr val="CFE8F3"/>
                </a:solidFill>
                <a:latin typeface="Calibri" pitchFamily="34" charset="0"/>
                <a:ea typeface="Calibri" pitchFamily="34" charset="-122"/>
                <a:cs typeface="Calibri" pitchFamily="34" charset="-120"/>
              </a:rPr>
              <a:t>MySQL</a:t>
            </a:r>
            <a:endParaRPr lang="en-US" sz="1050" dirty="0"/>
          </a:p>
        </p:txBody>
      </p:sp>
      <p:sp>
        <p:nvSpPr>
          <p:cNvPr id="31" name="Shape 29"/>
          <p:cNvSpPr/>
          <p:nvPr/>
        </p:nvSpPr>
        <p:spPr>
          <a:xfrm>
            <a:off x="8366760" y="2724912"/>
            <a:ext cx="109728" cy="109728"/>
          </a:xfrm>
          <a:prstGeom prst="ellipse">
            <a:avLst/>
          </a:prstGeom>
          <a:solidFill>
            <a:srgbClr val="0B2F4A"/>
          </a:solidFill>
          <a:ln/>
        </p:spPr>
      </p:sp>
      <p:sp>
        <p:nvSpPr>
          <p:cNvPr id="32" name="Text 30"/>
          <p:cNvSpPr/>
          <p:nvPr/>
        </p:nvSpPr>
        <p:spPr>
          <a:xfrm>
            <a:off x="8595360" y="2651760"/>
            <a:ext cx="260604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Relational Data Storage</a:t>
            </a:r>
            <a:endParaRPr lang="en-US" sz="1250" dirty="0"/>
          </a:p>
        </p:txBody>
      </p:sp>
      <p:sp>
        <p:nvSpPr>
          <p:cNvPr id="33" name="Shape 31"/>
          <p:cNvSpPr/>
          <p:nvPr/>
        </p:nvSpPr>
        <p:spPr>
          <a:xfrm>
            <a:off x="8366760" y="3291840"/>
            <a:ext cx="109728" cy="109728"/>
          </a:xfrm>
          <a:prstGeom prst="ellipse">
            <a:avLst/>
          </a:prstGeom>
          <a:solidFill>
            <a:srgbClr val="0B2F4A"/>
          </a:solidFill>
          <a:ln/>
        </p:spPr>
      </p:sp>
      <p:sp>
        <p:nvSpPr>
          <p:cNvPr id="34" name="Text 32"/>
          <p:cNvSpPr/>
          <p:nvPr/>
        </p:nvSpPr>
        <p:spPr>
          <a:xfrm>
            <a:off x="8595360" y="3218688"/>
            <a:ext cx="260604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Books, Members &amp; Fines</a:t>
            </a:r>
            <a:endParaRPr lang="en-US" sz="1250" dirty="0"/>
          </a:p>
        </p:txBody>
      </p:sp>
      <p:sp>
        <p:nvSpPr>
          <p:cNvPr id="35" name="Shape 33"/>
          <p:cNvSpPr/>
          <p:nvPr/>
        </p:nvSpPr>
        <p:spPr>
          <a:xfrm>
            <a:off x="8366760" y="3858768"/>
            <a:ext cx="109728" cy="109728"/>
          </a:xfrm>
          <a:prstGeom prst="ellipse">
            <a:avLst/>
          </a:prstGeom>
          <a:solidFill>
            <a:srgbClr val="0B2F4A"/>
          </a:solidFill>
          <a:ln/>
        </p:spPr>
      </p:sp>
      <p:sp>
        <p:nvSpPr>
          <p:cNvPr id="36" name="Text 34"/>
          <p:cNvSpPr/>
          <p:nvPr/>
        </p:nvSpPr>
        <p:spPr>
          <a:xfrm>
            <a:off x="8595360" y="3785616"/>
            <a:ext cx="260604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Reservation Records</a:t>
            </a:r>
            <a:endParaRPr lang="en-US" sz="1250" dirty="0"/>
          </a:p>
        </p:txBody>
      </p:sp>
      <p:sp>
        <p:nvSpPr>
          <p:cNvPr id="37" name="Shape 35"/>
          <p:cNvSpPr/>
          <p:nvPr/>
        </p:nvSpPr>
        <p:spPr>
          <a:xfrm>
            <a:off x="3977640" y="3451860"/>
            <a:ext cx="365760" cy="274320"/>
          </a:xfrm>
          <a:prstGeom prst="rightArrow">
            <a:avLst/>
          </a:prstGeom>
          <a:solidFill>
            <a:srgbClr val="E8A33D"/>
          </a:solidFill>
          <a:ln/>
        </p:spPr>
      </p:sp>
      <p:sp>
        <p:nvSpPr>
          <p:cNvPr id="38" name="Shape 36"/>
          <p:cNvSpPr/>
          <p:nvPr/>
        </p:nvSpPr>
        <p:spPr>
          <a:xfrm>
            <a:off x="7772400" y="3451860"/>
            <a:ext cx="365760" cy="274320"/>
          </a:xfrm>
          <a:prstGeom prst="rightArrow">
            <a:avLst/>
          </a:prstGeom>
          <a:solidFill>
            <a:srgbClr val="E8A33D"/>
          </a:solidFill>
          <a:ln/>
        </p:spPr>
      </p:sp>
      <p:sp>
        <p:nvSpPr>
          <p:cNvPr id="39" name="Shape 37"/>
          <p:cNvSpPr/>
          <p:nvPr/>
        </p:nvSpPr>
        <p:spPr>
          <a:xfrm>
            <a:off x="548640" y="5760720"/>
            <a:ext cx="10881360" cy="685800"/>
          </a:xfrm>
          <a:prstGeom prst="roundRect">
            <a:avLst>
              <a:gd name="adj" fmla="val 10667"/>
            </a:avLst>
          </a:prstGeom>
          <a:solidFill>
            <a:srgbClr val="F4F8FA"/>
          </a:solidFill>
          <a:ln w="12700">
            <a:solidFill>
              <a:srgbClr val="1C7293"/>
            </a:solidFill>
            <a:prstDash val="solid"/>
          </a:ln>
        </p:spPr>
      </p:sp>
      <p:sp>
        <p:nvSpPr>
          <p:cNvPr id="40" name="Text 38"/>
          <p:cNvSpPr/>
          <p:nvPr/>
        </p:nvSpPr>
        <p:spPr>
          <a:xfrm>
            <a:off x="777240" y="5779008"/>
            <a:ext cx="10424160" cy="649224"/>
          </a:xfrm>
          <a:prstGeom prst="rect">
            <a:avLst/>
          </a:prstGeom>
          <a:noFill/>
          <a:ln/>
        </p:spPr>
        <p:txBody>
          <a:bodyPr wrap="square" rtlCol="0" anchor="ctr"/>
          <a:lstStyle/>
          <a:p>
            <a:pPr marL="0" indent="0">
              <a:buNone/>
            </a:pPr>
            <a:r>
              <a:rPr lang="en-US" sz="1100" i="1" dirty="0">
                <a:solidFill>
                  <a:srgbClr val="5B6B76"/>
                </a:solidFill>
                <a:latin typeface="Calibri" pitchFamily="34" charset="0"/>
                <a:ea typeface="Calibri" pitchFamily="34" charset="-122"/>
                <a:cs typeface="Calibri" pitchFamily="34" charset="-120"/>
              </a:rPr>
              <a:t>The React.js frontend sends requests to the Node.js + Express.js backend over REST APIs. The backend applies business logic and queries the MySQL database to fetch or update records, then returns the result to the frontend for display.</a:t>
            </a:r>
            <a:endParaRPr lang="en-US" sz="1100" dirty="0"/>
          </a:p>
        </p:txBody>
      </p:sp>
      <p:sp>
        <p:nvSpPr>
          <p:cNvPr id="41" name="Text 39"/>
          <p:cNvSpPr/>
          <p:nvPr/>
        </p:nvSpPr>
        <p:spPr>
          <a:xfrm>
            <a:off x="457200" y="6519672"/>
            <a:ext cx="5486400" cy="274320"/>
          </a:xfrm>
          <a:prstGeom prst="rect">
            <a:avLst/>
          </a:prstGeom>
          <a:noFill/>
          <a:ln/>
        </p:spPr>
        <p:txBody>
          <a:bodyPr wrap="square" rtlCol="0" anchor="ctr"/>
          <a:lstStyle/>
          <a:p>
            <a:pPr marL="0" indent="0" algn="l">
              <a:buNone/>
            </a:pPr>
            <a:r>
              <a:rPr lang="en-US" sz="900" dirty="0">
                <a:solidFill>
                  <a:srgbClr val="5B6B76"/>
                </a:solidFill>
                <a:latin typeface="Calibri" pitchFamily="34" charset="0"/>
                <a:ea typeface="Calibri" pitchFamily="34" charset="-122"/>
                <a:cs typeface="Calibri" pitchFamily="34" charset="-120"/>
              </a:rPr>
              <a:t>Library &amp; Archives Self-Service Platform</a:t>
            </a:r>
            <a:endParaRPr lang="en-US" sz="900" dirty="0"/>
          </a:p>
        </p:txBody>
      </p:sp>
      <p:sp>
        <p:nvSpPr>
          <p:cNvPr id="42" name="Text 40"/>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F4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Frameworks, Platforms &amp; Tools</a:t>
            </a:r>
            <a:endParaRPr lang="en-US" sz="3200" dirty="0"/>
          </a:p>
        </p:txBody>
      </p:sp>
      <p:sp>
        <p:nvSpPr>
          <p:cNvPr id="3" name="Text 1"/>
          <p:cNvSpPr/>
          <p:nvPr/>
        </p:nvSpPr>
        <p:spPr>
          <a:xfrm>
            <a:off x="548640" y="1051560"/>
            <a:ext cx="9601200" cy="365760"/>
          </a:xfrm>
          <a:prstGeom prst="rect">
            <a:avLst/>
          </a:prstGeom>
          <a:noFill/>
          <a:ln/>
        </p:spPr>
        <p:txBody>
          <a:bodyPr wrap="square"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Technology stack across frontend, backend, and tooling</a:t>
            </a:r>
            <a:endParaRPr lang="en-US" sz="1400" dirty="0"/>
          </a:p>
        </p:txBody>
      </p:sp>
      <p:sp>
        <p:nvSpPr>
          <p:cNvPr id="4" name="Shape 2"/>
          <p:cNvSpPr/>
          <p:nvPr/>
        </p:nvSpPr>
        <p:spPr>
          <a:xfrm>
            <a:off x="548640" y="1737360"/>
            <a:ext cx="3520440" cy="960120"/>
          </a:xfrm>
          <a:prstGeom prst="roundRect">
            <a:avLst>
              <a:gd name="adj" fmla="val 7619"/>
            </a:avLst>
          </a:prstGeom>
          <a:solidFill>
            <a:srgbClr val="21295C"/>
          </a:solidFill>
          <a:ln/>
        </p:spPr>
      </p:sp>
      <p:sp>
        <p:nvSpPr>
          <p:cNvPr id="5" name="Shape 3"/>
          <p:cNvSpPr/>
          <p:nvPr/>
        </p:nvSpPr>
        <p:spPr>
          <a:xfrm>
            <a:off x="713232" y="1920240"/>
            <a:ext cx="594360" cy="594360"/>
          </a:xfrm>
          <a:prstGeom prst="roundRect">
            <a:avLst>
              <a:gd name="adj" fmla="val 12308"/>
            </a:avLst>
          </a:prstGeom>
          <a:solidFill>
            <a:srgbClr val="1C7293"/>
          </a:solidFill>
          <a:ln/>
        </p:spPr>
      </p:sp>
      <p:sp>
        <p:nvSpPr>
          <p:cNvPr id="6" name="Text 4"/>
          <p:cNvSpPr/>
          <p:nvPr/>
        </p:nvSpPr>
        <p:spPr>
          <a:xfrm>
            <a:off x="713232" y="1920240"/>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a:t>
            </a:r>
            <a:endParaRPr lang="en-US" sz="2000" dirty="0"/>
          </a:p>
        </p:txBody>
      </p:sp>
      <p:sp>
        <p:nvSpPr>
          <p:cNvPr id="7" name="Text 5"/>
          <p:cNvSpPr/>
          <p:nvPr/>
        </p:nvSpPr>
        <p:spPr>
          <a:xfrm>
            <a:off x="1444752" y="1847088"/>
            <a:ext cx="2468880" cy="384048"/>
          </a:xfrm>
          <a:prstGeom prst="rect">
            <a:avLst/>
          </a:prstGeom>
          <a:noFill/>
          <a:ln/>
        </p:spPr>
        <p:txBody>
          <a:bodyPr wrap="square" rtlCol="0" anchor="b"/>
          <a:lstStyle/>
          <a:p>
            <a:pPr marL="0" indent="0">
              <a:buNone/>
            </a:pPr>
            <a:r>
              <a:rPr lang="en-US" sz="1350" b="1" dirty="0">
                <a:solidFill>
                  <a:srgbClr val="FFFFFF"/>
                </a:solidFill>
                <a:latin typeface="Calibri" pitchFamily="34" charset="0"/>
                <a:ea typeface="Calibri" pitchFamily="34" charset="-122"/>
                <a:cs typeface="Calibri" pitchFamily="34" charset="-120"/>
              </a:rPr>
              <a:t>React.js</a:t>
            </a:r>
            <a:endParaRPr lang="en-US" sz="1350" dirty="0"/>
          </a:p>
        </p:txBody>
      </p:sp>
      <p:sp>
        <p:nvSpPr>
          <p:cNvPr id="8" name="Text 6"/>
          <p:cNvSpPr/>
          <p:nvPr/>
        </p:nvSpPr>
        <p:spPr>
          <a:xfrm>
            <a:off x="1444752" y="2221992"/>
            <a:ext cx="2468880" cy="384048"/>
          </a:xfrm>
          <a:prstGeom prst="rect">
            <a:avLst/>
          </a:prstGeom>
          <a:noFill/>
          <a:ln/>
        </p:spPr>
        <p:txBody>
          <a:bodyPr wrap="square" rtlCol="0" anchor="t"/>
          <a:lstStyle/>
          <a:p>
            <a:pPr marL="0" indent="0">
              <a:buNone/>
            </a:pPr>
            <a:r>
              <a:rPr lang="en-US" sz="1050" dirty="0">
                <a:solidFill>
                  <a:srgbClr val="CFE8F3"/>
                </a:solidFill>
                <a:latin typeface="Calibri" pitchFamily="34" charset="0"/>
                <a:ea typeface="Calibri" pitchFamily="34" charset="-122"/>
                <a:cs typeface="Calibri" pitchFamily="34" charset="-120"/>
              </a:rPr>
              <a:t>Frontend UI library</a:t>
            </a:r>
            <a:endParaRPr lang="en-US" sz="1050" dirty="0"/>
          </a:p>
        </p:txBody>
      </p:sp>
      <p:sp>
        <p:nvSpPr>
          <p:cNvPr id="9" name="Shape 7"/>
          <p:cNvSpPr/>
          <p:nvPr/>
        </p:nvSpPr>
        <p:spPr>
          <a:xfrm>
            <a:off x="4297680" y="1737360"/>
            <a:ext cx="3520440" cy="960120"/>
          </a:xfrm>
          <a:prstGeom prst="roundRect">
            <a:avLst>
              <a:gd name="adj" fmla="val 7619"/>
            </a:avLst>
          </a:prstGeom>
          <a:solidFill>
            <a:srgbClr val="21295C"/>
          </a:solidFill>
          <a:ln/>
        </p:spPr>
      </p:sp>
      <p:sp>
        <p:nvSpPr>
          <p:cNvPr id="10" name="Shape 8"/>
          <p:cNvSpPr/>
          <p:nvPr/>
        </p:nvSpPr>
        <p:spPr>
          <a:xfrm>
            <a:off x="4462272" y="1920240"/>
            <a:ext cx="594360" cy="594360"/>
          </a:xfrm>
          <a:prstGeom prst="roundRect">
            <a:avLst>
              <a:gd name="adj" fmla="val 12308"/>
            </a:avLst>
          </a:prstGeom>
          <a:solidFill>
            <a:srgbClr val="1C7293"/>
          </a:solidFill>
          <a:ln/>
        </p:spPr>
      </p:sp>
      <p:sp>
        <p:nvSpPr>
          <p:cNvPr id="11" name="Text 9"/>
          <p:cNvSpPr/>
          <p:nvPr/>
        </p:nvSpPr>
        <p:spPr>
          <a:xfrm>
            <a:off x="4462272" y="1920240"/>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a:t>
            </a:r>
            <a:endParaRPr lang="en-US" sz="2000" dirty="0"/>
          </a:p>
        </p:txBody>
      </p:sp>
      <p:sp>
        <p:nvSpPr>
          <p:cNvPr id="12" name="Text 10"/>
          <p:cNvSpPr/>
          <p:nvPr/>
        </p:nvSpPr>
        <p:spPr>
          <a:xfrm>
            <a:off x="5193792" y="1847088"/>
            <a:ext cx="2468880" cy="384048"/>
          </a:xfrm>
          <a:prstGeom prst="rect">
            <a:avLst/>
          </a:prstGeom>
          <a:noFill/>
          <a:ln/>
        </p:spPr>
        <p:txBody>
          <a:bodyPr wrap="square" rtlCol="0" anchor="b"/>
          <a:lstStyle/>
          <a:p>
            <a:pPr marL="0" indent="0">
              <a:buNone/>
            </a:pPr>
            <a:r>
              <a:rPr lang="en-US" sz="1350" b="1" dirty="0">
                <a:solidFill>
                  <a:srgbClr val="FFFFFF"/>
                </a:solidFill>
                <a:latin typeface="Calibri" pitchFamily="34" charset="0"/>
                <a:ea typeface="Calibri" pitchFamily="34" charset="-122"/>
                <a:cs typeface="Calibri" pitchFamily="34" charset="-120"/>
              </a:rPr>
              <a:t>React Router</a:t>
            </a:r>
            <a:endParaRPr lang="en-US" sz="1350" dirty="0"/>
          </a:p>
        </p:txBody>
      </p:sp>
      <p:sp>
        <p:nvSpPr>
          <p:cNvPr id="13" name="Text 11"/>
          <p:cNvSpPr/>
          <p:nvPr/>
        </p:nvSpPr>
        <p:spPr>
          <a:xfrm>
            <a:off x="5193792" y="2221992"/>
            <a:ext cx="2468880" cy="384048"/>
          </a:xfrm>
          <a:prstGeom prst="rect">
            <a:avLst/>
          </a:prstGeom>
          <a:noFill/>
          <a:ln/>
        </p:spPr>
        <p:txBody>
          <a:bodyPr wrap="square" rtlCol="0" anchor="t"/>
          <a:lstStyle/>
          <a:p>
            <a:pPr marL="0" indent="0">
              <a:buNone/>
            </a:pPr>
            <a:r>
              <a:rPr lang="en-US" sz="1050" dirty="0">
                <a:solidFill>
                  <a:srgbClr val="CFE8F3"/>
                </a:solidFill>
                <a:latin typeface="Calibri" pitchFamily="34" charset="0"/>
                <a:ea typeface="Calibri" pitchFamily="34" charset="-122"/>
                <a:cs typeface="Calibri" pitchFamily="34" charset="-120"/>
              </a:rPr>
              <a:t>Client-side navigation</a:t>
            </a:r>
            <a:endParaRPr lang="en-US" sz="1050" dirty="0"/>
          </a:p>
        </p:txBody>
      </p:sp>
      <p:sp>
        <p:nvSpPr>
          <p:cNvPr id="14" name="Shape 12"/>
          <p:cNvSpPr/>
          <p:nvPr/>
        </p:nvSpPr>
        <p:spPr>
          <a:xfrm>
            <a:off x="8046720" y="1737360"/>
            <a:ext cx="3520440" cy="960120"/>
          </a:xfrm>
          <a:prstGeom prst="roundRect">
            <a:avLst>
              <a:gd name="adj" fmla="val 7619"/>
            </a:avLst>
          </a:prstGeom>
          <a:solidFill>
            <a:srgbClr val="21295C"/>
          </a:solidFill>
          <a:ln/>
        </p:spPr>
      </p:sp>
      <p:sp>
        <p:nvSpPr>
          <p:cNvPr id="15" name="Shape 13"/>
          <p:cNvSpPr/>
          <p:nvPr/>
        </p:nvSpPr>
        <p:spPr>
          <a:xfrm>
            <a:off x="8211312" y="1920240"/>
            <a:ext cx="594360" cy="594360"/>
          </a:xfrm>
          <a:prstGeom prst="roundRect">
            <a:avLst>
              <a:gd name="adj" fmla="val 12308"/>
            </a:avLst>
          </a:prstGeom>
          <a:solidFill>
            <a:srgbClr val="1C7293"/>
          </a:solidFill>
          <a:ln/>
        </p:spPr>
      </p:sp>
      <p:sp>
        <p:nvSpPr>
          <p:cNvPr id="16" name="Text 14"/>
          <p:cNvSpPr/>
          <p:nvPr/>
        </p:nvSpPr>
        <p:spPr>
          <a:xfrm>
            <a:off x="8211312" y="1920240"/>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7" name="Text 15"/>
          <p:cNvSpPr/>
          <p:nvPr/>
        </p:nvSpPr>
        <p:spPr>
          <a:xfrm>
            <a:off x="8942832" y="1847088"/>
            <a:ext cx="2468880" cy="384048"/>
          </a:xfrm>
          <a:prstGeom prst="rect">
            <a:avLst/>
          </a:prstGeom>
          <a:noFill/>
          <a:ln/>
        </p:spPr>
        <p:txBody>
          <a:bodyPr wrap="square" rtlCol="0" anchor="b"/>
          <a:lstStyle/>
          <a:p>
            <a:pPr marL="0" indent="0">
              <a:buNone/>
            </a:pPr>
            <a:r>
              <a:rPr lang="en-US" sz="1350" b="1" dirty="0">
                <a:solidFill>
                  <a:srgbClr val="FFFFFF"/>
                </a:solidFill>
                <a:latin typeface="Calibri" pitchFamily="34" charset="0"/>
                <a:ea typeface="Calibri" pitchFamily="34" charset="-122"/>
                <a:cs typeface="Calibri" pitchFamily="34" charset="-120"/>
              </a:rPr>
              <a:t>Axios</a:t>
            </a:r>
            <a:endParaRPr lang="en-US" sz="1350" dirty="0"/>
          </a:p>
        </p:txBody>
      </p:sp>
      <p:sp>
        <p:nvSpPr>
          <p:cNvPr id="18" name="Text 16"/>
          <p:cNvSpPr/>
          <p:nvPr/>
        </p:nvSpPr>
        <p:spPr>
          <a:xfrm>
            <a:off x="8942832" y="2221992"/>
            <a:ext cx="2468880" cy="384048"/>
          </a:xfrm>
          <a:prstGeom prst="rect">
            <a:avLst/>
          </a:prstGeom>
          <a:noFill/>
          <a:ln/>
        </p:spPr>
        <p:txBody>
          <a:bodyPr wrap="square" rtlCol="0" anchor="t"/>
          <a:lstStyle/>
          <a:p>
            <a:pPr marL="0" indent="0">
              <a:buNone/>
            </a:pPr>
            <a:r>
              <a:rPr lang="en-US" sz="1050" dirty="0">
                <a:solidFill>
                  <a:srgbClr val="CFE8F3"/>
                </a:solidFill>
                <a:latin typeface="Calibri" pitchFamily="34" charset="0"/>
                <a:ea typeface="Calibri" pitchFamily="34" charset="-122"/>
                <a:cs typeface="Calibri" pitchFamily="34" charset="-120"/>
              </a:rPr>
              <a:t>Frontend-to-API requests</a:t>
            </a:r>
            <a:endParaRPr lang="en-US" sz="1050" dirty="0"/>
          </a:p>
        </p:txBody>
      </p:sp>
      <p:sp>
        <p:nvSpPr>
          <p:cNvPr id="19" name="Shape 17"/>
          <p:cNvSpPr/>
          <p:nvPr/>
        </p:nvSpPr>
        <p:spPr>
          <a:xfrm>
            <a:off x="548640" y="2880360"/>
            <a:ext cx="3520440" cy="960120"/>
          </a:xfrm>
          <a:prstGeom prst="roundRect">
            <a:avLst>
              <a:gd name="adj" fmla="val 7619"/>
            </a:avLst>
          </a:prstGeom>
          <a:solidFill>
            <a:srgbClr val="21295C"/>
          </a:solidFill>
          <a:ln/>
        </p:spPr>
      </p:sp>
      <p:sp>
        <p:nvSpPr>
          <p:cNvPr id="20" name="Shape 18"/>
          <p:cNvSpPr/>
          <p:nvPr/>
        </p:nvSpPr>
        <p:spPr>
          <a:xfrm>
            <a:off x="713232" y="3063240"/>
            <a:ext cx="594360" cy="594360"/>
          </a:xfrm>
          <a:prstGeom prst="roundRect">
            <a:avLst>
              <a:gd name="adj" fmla="val 12308"/>
            </a:avLst>
          </a:prstGeom>
          <a:solidFill>
            <a:srgbClr val="1C7293"/>
          </a:solidFill>
          <a:ln/>
        </p:spPr>
      </p:sp>
      <p:sp>
        <p:nvSpPr>
          <p:cNvPr id="21" name="Text 19"/>
          <p:cNvSpPr/>
          <p:nvPr/>
        </p:nvSpPr>
        <p:spPr>
          <a:xfrm>
            <a:off x="713232" y="3063240"/>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a:t>
            </a:r>
            <a:endParaRPr lang="en-US" sz="2000" dirty="0"/>
          </a:p>
        </p:txBody>
      </p:sp>
      <p:sp>
        <p:nvSpPr>
          <p:cNvPr id="22" name="Text 20"/>
          <p:cNvSpPr/>
          <p:nvPr/>
        </p:nvSpPr>
        <p:spPr>
          <a:xfrm>
            <a:off x="1444752" y="2990088"/>
            <a:ext cx="2468880" cy="384048"/>
          </a:xfrm>
          <a:prstGeom prst="rect">
            <a:avLst/>
          </a:prstGeom>
          <a:noFill/>
          <a:ln/>
        </p:spPr>
        <p:txBody>
          <a:bodyPr wrap="square" rtlCol="0" anchor="b"/>
          <a:lstStyle/>
          <a:p>
            <a:pPr marL="0" indent="0">
              <a:buNone/>
            </a:pPr>
            <a:r>
              <a:rPr lang="en-US" sz="1350" b="1" dirty="0">
                <a:solidFill>
                  <a:srgbClr val="FFFFFF"/>
                </a:solidFill>
                <a:latin typeface="Calibri" pitchFamily="34" charset="0"/>
                <a:ea typeface="Calibri" pitchFamily="34" charset="-122"/>
                <a:cs typeface="Calibri" pitchFamily="34" charset="-120"/>
              </a:rPr>
              <a:t>Node.js</a:t>
            </a:r>
            <a:endParaRPr lang="en-US" sz="1350" dirty="0"/>
          </a:p>
        </p:txBody>
      </p:sp>
      <p:sp>
        <p:nvSpPr>
          <p:cNvPr id="23" name="Text 21"/>
          <p:cNvSpPr/>
          <p:nvPr/>
        </p:nvSpPr>
        <p:spPr>
          <a:xfrm>
            <a:off x="1444752" y="3364992"/>
            <a:ext cx="2468880" cy="384048"/>
          </a:xfrm>
          <a:prstGeom prst="rect">
            <a:avLst/>
          </a:prstGeom>
          <a:noFill/>
          <a:ln/>
        </p:spPr>
        <p:txBody>
          <a:bodyPr wrap="square" rtlCol="0" anchor="t"/>
          <a:lstStyle/>
          <a:p>
            <a:pPr marL="0" indent="0">
              <a:buNone/>
            </a:pPr>
            <a:r>
              <a:rPr lang="en-US" sz="1050" dirty="0">
                <a:solidFill>
                  <a:srgbClr val="CFE8F3"/>
                </a:solidFill>
                <a:latin typeface="Calibri" pitchFamily="34" charset="0"/>
                <a:ea typeface="Calibri" pitchFamily="34" charset="-122"/>
                <a:cs typeface="Calibri" pitchFamily="34" charset="-120"/>
              </a:rPr>
              <a:t>Backend runtime</a:t>
            </a:r>
            <a:endParaRPr lang="en-US" sz="1050" dirty="0"/>
          </a:p>
        </p:txBody>
      </p:sp>
      <p:sp>
        <p:nvSpPr>
          <p:cNvPr id="24" name="Shape 22"/>
          <p:cNvSpPr/>
          <p:nvPr/>
        </p:nvSpPr>
        <p:spPr>
          <a:xfrm>
            <a:off x="4297680" y="2880360"/>
            <a:ext cx="3520440" cy="960120"/>
          </a:xfrm>
          <a:prstGeom prst="roundRect">
            <a:avLst>
              <a:gd name="adj" fmla="val 7619"/>
            </a:avLst>
          </a:prstGeom>
          <a:solidFill>
            <a:srgbClr val="21295C"/>
          </a:solidFill>
          <a:ln/>
        </p:spPr>
      </p:sp>
      <p:sp>
        <p:nvSpPr>
          <p:cNvPr id="25" name="Shape 23"/>
          <p:cNvSpPr/>
          <p:nvPr/>
        </p:nvSpPr>
        <p:spPr>
          <a:xfrm>
            <a:off x="4462272" y="3063240"/>
            <a:ext cx="594360" cy="594360"/>
          </a:xfrm>
          <a:prstGeom prst="roundRect">
            <a:avLst>
              <a:gd name="adj" fmla="val 12308"/>
            </a:avLst>
          </a:prstGeom>
          <a:solidFill>
            <a:srgbClr val="1C7293"/>
          </a:solidFill>
          <a:ln/>
        </p:spPr>
      </p:sp>
      <p:sp>
        <p:nvSpPr>
          <p:cNvPr id="26" name="Text 24"/>
          <p:cNvSpPr/>
          <p:nvPr/>
        </p:nvSpPr>
        <p:spPr>
          <a:xfrm>
            <a:off x="4462272" y="3063240"/>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a:t>
            </a:r>
            <a:endParaRPr lang="en-US" sz="2000" dirty="0"/>
          </a:p>
        </p:txBody>
      </p:sp>
      <p:sp>
        <p:nvSpPr>
          <p:cNvPr id="27" name="Text 25"/>
          <p:cNvSpPr/>
          <p:nvPr/>
        </p:nvSpPr>
        <p:spPr>
          <a:xfrm>
            <a:off x="5193792" y="2990088"/>
            <a:ext cx="2468880" cy="384048"/>
          </a:xfrm>
          <a:prstGeom prst="rect">
            <a:avLst/>
          </a:prstGeom>
          <a:noFill/>
          <a:ln/>
        </p:spPr>
        <p:txBody>
          <a:bodyPr wrap="square" rtlCol="0" anchor="b"/>
          <a:lstStyle/>
          <a:p>
            <a:pPr marL="0" indent="0">
              <a:buNone/>
            </a:pPr>
            <a:r>
              <a:rPr lang="en-US" sz="1350" b="1" dirty="0">
                <a:solidFill>
                  <a:srgbClr val="FFFFFF"/>
                </a:solidFill>
                <a:latin typeface="Calibri" pitchFamily="34" charset="0"/>
                <a:ea typeface="Calibri" pitchFamily="34" charset="-122"/>
                <a:cs typeface="Calibri" pitchFamily="34" charset="-120"/>
              </a:rPr>
              <a:t>Express.js</a:t>
            </a:r>
            <a:endParaRPr lang="en-US" sz="1350" dirty="0"/>
          </a:p>
        </p:txBody>
      </p:sp>
      <p:sp>
        <p:nvSpPr>
          <p:cNvPr id="28" name="Text 26"/>
          <p:cNvSpPr/>
          <p:nvPr/>
        </p:nvSpPr>
        <p:spPr>
          <a:xfrm>
            <a:off x="5193792" y="3364992"/>
            <a:ext cx="2468880" cy="384048"/>
          </a:xfrm>
          <a:prstGeom prst="rect">
            <a:avLst/>
          </a:prstGeom>
          <a:noFill/>
          <a:ln/>
        </p:spPr>
        <p:txBody>
          <a:bodyPr wrap="square" rtlCol="0" anchor="t"/>
          <a:lstStyle/>
          <a:p>
            <a:pPr marL="0" indent="0">
              <a:buNone/>
            </a:pPr>
            <a:r>
              <a:rPr lang="en-US" sz="1050" dirty="0">
                <a:solidFill>
                  <a:srgbClr val="CFE8F3"/>
                </a:solidFill>
                <a:latin typeface="Calibri" pitchFamily="34" charset="0"/>
                <a:ea typeface="Calibri" pitchFamily="34" charset="-122"/>
                <a:cs typeface="Calibri" pitchFamily="34" charset="-120"/>
              </a:rPr>
              <a:t>REST API framework</a:t>
            </a:r>
            <a:endParaRPr lang="en-US" sz="1050" dirty="0"/>
          </a:p>
        </p:txBody>
      </p:sp>
      <p:sp>
        <p:nvSpPr>
          <p:cNvPr id="29" name="Shape 27"/>
          <p:cNvSpPr/>
          <p:nvPr/>
        </p:nvSpPr>
        <p:spPr>
          <a:xfrm>
            <a:off x="8046720" y="2880360"/>
            <a:ext cx="3520440" cy="960120"/>
          </a:xfrm>
          <a:prstGeom prst="roundRect">
            <a:avLst>
              <a:gd name="adj" fmla="val 7619"/>
            </a:avLst>
          </a:prstGeom>
          <a:solidFill>
            <a:srgbClr val="21295C"/>
          </a:solidFill>
          <a:ln/>
        </p:spPr>
      </p:sp>
      <p:sp>
        <p:nvSpPr>
          <p:cNvPr id="30" name="Shape 28"/>
          <p:cNvSpPr/>
          <p:nvPr/>
        </p:nvSpPr>
        <p:spPr>
          <a:xfrm>
            <a:off x="8211312" y="3063240"/>
            <a:ext cx="594360" cy="594360"/>
          </a:xfrm>
          <a:prstGeom prst="roundRect">
            <a:avLst>
              <a:gd name="adj" fmla="val 12308"/>
            </a:avLst>
          </a:prstGeom>
          <a:solidFill>
            <a:srgbClr val="1C7293"/>
          </a:solidFill>
          <a:ln/>
        </p:spPr>
      </p:sp>
      <p:sp>
        <p:nvSpPr>
          <p:cNvPr id="31" name="Text 29"/>
          <p:cNvSpPr/>
          <p:nvPr/>
        </p:nvSpPr>
        <p:spPr>
          <a:xfrm>
            <a:off x="8211312" y="3063240"/>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a:t>
            </a:r>
            <a:endParaRPr lang="en-US" sz="2000" dirty="0"/>
          </a:p>
        </p:txBody>
      </p:sp>
      <p:sp>
        <p:nvSpPr>
          <p:cNvPr id="32" name="Text 30"/>
          <p:cNvSpPr/>
          <p:nvPr/>
        </p:nvSpPr>
        <p:spPr>
          <a:xfrm>
            <a:off x="8942832" y="2990088"/>
            <a:ext cx="2468880" cy="384048"/>
          </a:xfrm>
          <a:prstGeom prst="rect">
            <a:avLst/>
          </a:prstGeom>
          <a:noFill/>
          <a:ln/>
        </p:spPr>
        <p:txBody>
          <a:bodyPr wrap="square" rtlCol="0" anchor="b"/>
          <a:lstStyle/>
          <a:p>
            <a:pPr marL="0" indent="0">
              <a:buNone/>
            </a:pPr>
            <a:r>
              <a:rPr lang="en-US" sz="1350" b="1" dirty="0">
                <a:solidFill>
                  <a:srgbClr val="FFFFFF"/>
                </a:solidFill>
                <a:latin typeface="Calibri" pitchFamily="34" charset="0"/>
                <a:ea typeface="Calibri" pitchFamily="34" charset="-122"/>
                <a:cs typeface="Calibri" pitchFamily="34" charset="-120"/>
              </a:rPr>
              <a:t>MySQL</a:t>
            </a:r>
            <a:endParaRPr lang="en-US" sz="1350" dirty="0"/>
          </a:p>
        </p:txBody>
      </p:sp>
      <p:sp>
        <p:nvSpPr>
          <p:cNvPr id="33" name="Text 31"/>
          <p:cNvSpPr/>
          <p:nvPr/>
        </p:nvSpPr>
        <p:spPr>
          <a:xfrm>
            <a:off x="8942832" y="3364992"/>
            <a:ext cx="2468880" cy="384048"/>
          </a:xfrm>
          <a:prstGeom prst="rect">
            <a:avLst/>
          </a:prstGeom>
          <a:noFill/>
          <a:ln/>
        </p:spPr>
        <p:txBody>
          <a:bodyPr wrap="square" rtlCol="0" anchor="t"/>
          <a:lstStyle/>
          <a:p>
            <a:pPr marL="0" indent="0">
              <a:buNone/>
            </a:pPr>
            <a:r>
              <a:rPr lang="en-US" sz="1050" dirty="0">
                <a:solidFill>
                  <a:srgbClr val="CFE8F3"/>
                </a:solidFill>
                <a:latin typeface="Calibri" pitchFamily="34" charset="0"/>
                <a:ea typeface="Calibri" pitchFamily="34" charset="-122"/>
                <a:cs typeface="Calibri" pitchFamily="34" charset="-120"/>
              </a:rPr>
              <a:t>Data storage &amp; management</a:t>
            </a:r>
            <a:endParaRPr lang="en-US" sz="1050" dirty="0"/>
          </a:p>
        </p:txBody>
      </p:sp>
      <p:sp>
        <p:nvSpPr>
          <p:cNvPr id="34" name="Shape 32"/>
          <p:cNvSpPr/>
          <p:nvPr/>
        </p:nvSpPr>
        <p:spPr>
          <a:xfrm>
            <a:off x="548640" y="4023360"/>
            <a:ext cx="3520440" cy="960120"/>
          </a:xfrm>
          <a:prstGeom prst="roundRect">
            <a:avLst>
              <a:gd name="adj" fmla="val 7619"/>
            </a:avLst>
          </a:prstGeom>
          <a:solidFill>
            <a:srgbClr val="21295C"/>
          </a:solidFill>
          <a:ln/>
        </p:spPr>
      </p:sp>
      <p:sp>
        <p:nvSpPr>
          <p:cNvPr id="35" name="Shape 33"/>
          <p:cNvSpPr/>
          <p:nvPr/>
        </p:nvSpPr>
        <p:spPr>
          <a:xfrm>
            <a:off x="713232" y="4206240"/>
            <a:ext cx="594360" cy="594360"/>
          </a:xfrm>
          <a:prstGeom prst="roundRect">
            <a:avLst>
              <a:gd name="adj" fmla="val 12308"/>
            </a:avLst>
          </a:prstGeom>
          <a:solidFill>
            <a:srgbClr val="1C7293"/>
          </a:solidFill>
          <a:ln/>
        </p:spPr>
      </p:sp>
      <p:sp>
        <p:nvSpPr>
          <p:cNvPr id="36" name="Text 34"/>
          <p:cNvSpPr/>
          <p:nvPr/>
        </p:nvSpPr>
        <p:spPr>
          <a:xfrm>
            <a:off x="713232" y="4206240"/>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a:t>
            </a:r>
            <a:endParaRPr lang="en-US" sz="2000" dirty="0"/>
          </a:p>
        </p:txBody>
      </p:sp>
      <p:sp>
        <p:nvSpPr>
          <p:cNvPr id="37" name="Text 35"/>
          <p:cNvSpPr/>
          <p:nvPr/>
        </p:nvSpPr>
        <p:spPr>
          <a:xfrm>
            <a:off x="1444752" y="4133088"/>
            <a:ext cx="2468880" cy="384048"/>
          </a:xfrm>
          <a:prstGeom prst="rect">
            <a:avLst/>
          </a:prstGeom>
          <a:noFill/>
          <a:ln/>
        </p:spPr>
        <p:txBody>
          <a:bodyPr wrap="square" rtlCol="0" anchor="b"/>
          <a:lstStyle/>
          <a:p>
            <a:pPr marL="0" indent="0">
              <a:buNone/>
            </a:pPr>
            <a:r>
              <a:rPr lang="en-US" sz="1350" b="1" dirty="0">
                <a:solidFill>
                  <a:srgbClr val="FFFFFF"/>
                </a:solidFill>
                <a:latin typeface="Calibri" pitchFamily="34" charset="0"/>
                <a:ea typeface="Calibri" pitchFamily="34" charset="-122"/>
                <a:cs typeface="Calibri" pitchFamily="34" charset="-120"/>
              </a:rPr>
              <a:t>Firebase Cloud Messaging</a:t>
            </a:r>
            <a:endParaRPr lang="en-US" sz="1350" dirty="0"/>
          </a:p>
        </p:txBody>
      </p:sp>
      <p:sp>
        <p:nvSpPr>
          <p:cNvPr id="38" name="Text 36"/>
          <p:cNvSpPr/>
          <p:nvPr/>
        </p:nvSpPr>
        <p:spPr>
          <a:xfrm>
            <a:off x="1444752" y="4507992"/>
            <a:ext cx="2468880" cy="384048"/>
          </a:xfrm>
          <a:prstGeom prst="rect">
            <a:avLst/>
          </a:prstGeom>
          <a:noFill/>
          <a:ln/>
        </p:spPr>
        <p:txBody>
          <a:bodyPr wrap="square" rtlCol="0" anchor="t"/>
          <a:lstStyle/>
          <a:p>
            <a:pPr marL="0" indent="0">
              <a:buNone/>
            </a:pPr>
            <a:r>
              <a:rPr lang="en-US" sz="1050" dirty="0">
                <a:solidFill>
                  <a:srgbClr val="CFE8F3"/>
                </a:solidFill>
                <a:latin typeface="Calibri" pitchFamily="34" charset="0"/>
                <a:ea typeface="Calibri" pitchFamily="34" charset="-122"/>
                <a:cs typeface="Calibri" pitchFamily="34" charset="-120"/>
              </a:rPr>
              <a:t>Push notifications &amp; alerts</a:t>
            </a:r>
            <a:endParaRPr lang="en-US" sz="1050" dirty="0"/>
          </a:p>
        </p:txBody>
      </p:sp>
      <p:sp>
        <p:nvSpPr>
          <p:cNvPr id="39" name="Shape 37"/>
          <p:cNvSpPr/>
          <p:nvPr/>
        </p:nvSpPr>
        <p:spPr>
          <a:xfrm>
            <a:off x="4297680" y="4023360"/>
            <a:ext cx="3520440" cy="960120"/>
          </a:xfrm>
          <a:prstGeom prst="roundRect">
            <a:avLst>
              <a:gd name="adj" fmla="val 7619"/>
            </a:avLst>
          </a:prstGeom>
          <a:solidFill>
            <a:srgbClr val="21295C"/>
          </a:solidFill>
          <a:ln/>
        </p:spPr>
      </p:sp>
      <p:sp>
        <p:nvSpPr>
          <p:cNvPr id="40" name="Shape 38"/>
          <p:cNvSpPr/>
          <p:nvPr/>
        </p:nvSpPr>
        <p:spPr>
          <a:xfrm>
            <a:off x="4462272" y="4206240"/>
            <a:ext cx="594360" cy="594360"/>
          </a:xfrm>
          <a:prstGeom prst="roundRect">
            <a:avLst>
              <a:gd name="adj" fmla="val 12308"/>
            </a:avLst>
          </a:prstGeom>
          <a:solidFill>
            <a:srgbClr val="1C7293"/>
          </a:solidFill>
          <a:ln/>
        </p:spPr>
      </p:sp>
      <p:sp>
        <p:nvSpPr>
          <p:cNvPr id="41" name="Text 39"/>
          <p:cNvSpPr/>
          <p:nvPr/>
        </p:nvSpPr>
        <p:spPr>
          <a:xfrm>
            <a:off x="4462272" y="4206240"/>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a:t>
            </a:r>
            <a:endParaRPr lang="en-US" sz="2000" dirty="0"/>
          </a:p>
        </p:txBody>
      </p:sp>
      <p:sp>
        <p:nvSpPr>
          <p:cNvPr id="42" name="Text 40"/>
          <p:cNvSpPr/>
          <p:nvPr/>
        </p:nvSpPr>
        <p:spPr>
          <a:xfrm>
            <a:off x="5193792" y="4133088"/>
            <a:ext cx="2468880" cy="384048"/>
          </a:xfrm>
          <a:prstGeom prst="rect">
            <a:avLst/>
          </a:prstGeom>
          <a:noFill/>
          <a:ln/>
        </p:spPr>
        <p:txBody>
          <a:bodyPr wrap="square" rtlCol="0" anchor="b"/>
          <a:lstStyle/>
          <a:p>
            <a:pPr marL="0" indent="0">
              <a:buNone/>
            </a:pPr>
            <a:r>
              <a:rPr lang="en-US" sz="1350" b="1" dirty="0">
                <a:solidFill>
                  <a:srgbClr val="FFFFFF"/>
                </a:solidFill>
                <a:latin typeface="Calibri" pitchFamily="34" charset="0"/>
                <a:ea typeface="Calibri" pitchFamily="34" charset="-122"/>
                <a:cs typeface="Calibri" pitchFamily="34" charset="-120"/>
              </a:rPr>
              <a:t>Postman</a:t>
            </a:r>
            <a:endParaRPr lang="en-US" sz="1350" dirty="0"/>
          </a:p>
        </p:txBody>
      </p:sp>
      <p:sp>
        <p:nvSpPr>
          <p:cNvPr id="43" name="Text 41"/>
          <p:cNvSpPr/>
          <p:nvPr/>
        </p:nvSpPr>
        <p:spPr>
          <a:xfrm>
            <a:off x="5193792" y="4507992"/>
            <a:ext cx="2468880" cy="384048"/>
          </a:xfrm>
          <a:prstGeom prst="rect">
            <a:avLst/>
          </a:prstGeom>
          <a:noFill/>
          <a:ln/>
        </p:spPr>
        <p:txBody>
          <a:bodyPr wrap="square" rtlCol="0" anchor="t"/>
          <a:lstStyle/>
          <a:p>
            <a:pPr marL="0" indent="0">
              <a:buNone/>
            </a:pPr>
            <a:r>
              <a:rPr lang="en-US" sz="1050" dirty="0">
                <a:solidFill>
                  <a:srgbClr val="CFE8F3"/>
                </a:solidFill>
                <a:latin typeface="Calibri" pitchFamily="34" charset="0"/>
                <a:ea typeface="Calibri" pitchFamily="34" charset="-122"/>
                <a:cs typeface="Calibri" pitchFamily="34" charset="-120"/>
              </a:rPr>
              <a:t>API testing &amp; debugging</a:t>
            </a:r>
            <a:endParaRPr lang="en-US" sz="1050" dirty="0"/>
          </a:p>
        </p:txBody>
      </p:sp>
      <p:sp>
        <p:nvSpPr>
          <p:cNvPr id="44" name="Shape 42"/>
          <p:cNvSpPr/>
          <p:nvPr/>
        </p:nvSpPr>
        <p:spPr>
          <a:xfrm>
            <a:off x="8046720" y="4023360"/>
            <a:ext cx="3520440" cy="960120"/>
          </a:xfrm>
          <a:prstGeom prst="roundRect">
            <a:avLst>
              <a:gd name="adj" fmla="val 7619"/>
            </a:avLst>
          </a:prstGeom>
          <a:solidFill>
            <a:srgbClr val="21295C"/>
          </a:solidFill>
          <a:ln/>
        </p:spPr>
      </p:sp>
      <p:sp>
        <p:nvSpPr>
          <p:cNvPr id="45" name="Shape 43"/>
          <p:cNvSpPr/>
          <p:nvPr/>
        </p:nvSpPr>
        <p:spPr>
          <a:xfrm>
            <a:off x="8211312" y="4206240"/>
            <a:ext cx="594360" cy="594360"/>
          </a:xfrm>
          <a:prstGeom prst="roundRect">
            <a:avLst>
              <a:gd name="adj" fmla="val 12308"/>
            </a:avLst>
          </a:prstGeom>
          <a:solidFill>
            <a:srgbClr val="1C7293"/>
          </a:solidFill>
          <a:ln/>
        </p:spPr>
      </p:sp>
      <p:sp>
        <p:nvSpPr>
          <p:cNvPr id="46" name="Text 44"/>
          <p:cNvSpPr/>
          <p:nvPr/>
        </p:nvSpPr>
        <p:spPr>
          <a:xfrm>
            <a:off x="8211312" y="4206240"/>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47" name="Text 45"/>
          <p:cNvSpPr/>
          <p:nvPr/>
        </p:nvSpPr>
        <p:spPr>
          <a:xfrm>
            <a:off x="8942832" y="4133088"/>
            <a:ext cx="2468880" cy="384048"/>
          </a:xfrm>
          <a:prstGeom prst="rect">
            <a:avLst/>
          </a:prstGeom>
          <a:noFill/>
          <a:ln/>
        </p:spPr>
        <p:txBody>
          <a:bodyPr wrap="square" rtlCol="0" anchor="b"/>
          <a:lstStyle/>
          <a:p>
            <a:pPr marL="0" indent="0">
              <a:buNone/>
            </a:pPr>
            <a:r>
              <a:rPr lang="en-US" sz="1350" b="1" dirty="0">
                <a:solidFill>
                  <a:srgbClr val="FFFFFF"/>
                </a:solidFill>
                <a:latin typeface="Calibri" pitchFamily="34" charset="0"/>
                <a:ea typeface="Calibri" pitchFamily="34" charset="-122"/>
                <a:cs typeface="Calibri" pitchFamily="34" charset="-120"/>
              </a:rPr>
              <a:t>GitHub</a:t>
            </a:r>
            <a:endParaRPr lang="en-US" sz="1350" dirty="0"/>
          </a:p>
        </p:txBody>
      </p:sp>
      <p:sp>
        <p:nvSpPr>
          <p:cNvPr id="48" name="Text 46"/>
          <p:cNvSpPr/>
          <p:nvPr/>
        </p:nvSpPr>
        <p:spPr>
          <a:xfrm>
            <a:off x="8942832" y="4507992"/>
            <a:ext cx="2468880" cy="384048"/>
          </a:xfrm>
          <a:prstGeom prst="rect">
            <a:avLst/>
          </a:prstGeom>
          <a:noFill/>
          <a:ln/>
        </p:spPr>
        <p:txBody>
          <a:bodyPr wrap="square" rtlCol="0" anchor="t"/>
          <a:lstStyle/>
          <a:p>
            <a:pPr marL="0" indent="0">
              <a:buNone/>
            </a:pPr>
            <a:r>
              <a:rPr lang="en-US" sz="1050" dirty="0">
                <a:solidFill>
                  <a:srgbClr val="CFE8F3"/>
                </a:solidFill>
                <a:latin typeface="Calibri" pitchFamily="34" charset="0"/>
                <a:ea typeface="Calibri" pitchFamily="34" charset="-122"/>
                <a:cs typeface="Calibri" pitchFamily="34" charset="-120"/>
              </a:rPr>
              <a:t>Version control &amp; collaboration</a:t>
            </a:r>
            <a:endParaRPr lang="en-US" sz="1050" dirty="0"/>
          </a:p>
        </p:txBody>
      </p:sp>
      <p:sp>
        <p:nvSpPr>
          <p:cNvPr id="49" name="Text 47"/>
          <p:cNvSpPr/>
          <p:nvPr/>
        </p:nvSpPr>
        <p:spPr>
          <a:xfrm>
            <a:off x="457200" y="6519672"/>
            <a:ext cx="5486400" cy="274320"/>
          </a:xfrm>
          <a:prstGeom prst="rect">
            <a:avLst/>
          </a:prstGeom>
          <a:noFill/>
          <a:ln/>
        </p:spPr>
        <p:txBody>
          <a:bodyPr wrap="square" rtlCol="0" anchor="ctr"/>
          <a:lstStyle/>
          <a:p>
            <a:pPr marL="0" indent="0" algn="l">
              <a:buNone/>
            </a:pPr>
            <a:r>
              <a:rPr lang="en-US" sz="900" dirty="0">
                <a:solidFill>
                  <a:srgbClr val="6E90A8"/>
                </a:solidFill>
                <a:latin typeface="Calibri" pitchFamily="34" charset="0"/>
                <a:ea typeface="Calibri" pitchFamily="34" charset="-122"/>
                <a:cs typeface="Calibri" pitchFamily="34" charset="-120"/>
              </a:rPr>
              <a:t>Library &amp; Archives Self-Service Platform</a:t>
            </a:r>
            <a:endParaRPr lang="en-US" sz="900" dirty="0"/>
          </a:p>
        </p:txBody>
      </p:sp>
      <p:sp>
        <p:nvSpPr>
          <p:cNvPr id="50" name="Text 48"/>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6E90A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400" b="1" dirty="0">
                <a:solidFill>
                  <a:srgbClr val="0B2F4A"/>
                </a:solidFill>
                <a:latin typeface="Cambria" pitchFamily="34" charset="0"/>
                <a:ea typeface="Cambria" pitchFamily="34" charset="-122"/>
                <a:cs typeface="Cambria" pitchFamily="34" charset="-120"/>
              </a:rPr>
              <a:t>Team Details</a:t>
            </a:r>
            <a:endParaRPr lang="en-US" sz="3400" dirty="0"/>
          </a:p>
        </p:txBody>
      </p:sp>
      <p:sp>
        <p:nvSpPr>
          <p:cNvPr id="3" name="Text 1"/>
          <p:cNvSpPr/>
          <p:nvPr/>
        </p:nvSpPr>
        <p:spPr>
          <a:xfrm>
            <a:off x="548640" y="1051560"/>
            <a:ext cx="8686800" cy="365760"/>
          </a:xfrm>
          <a:prstGeom prst="rect">
            <a:avLst/>
          </a:prstGeom>
          <a:noFill/>
          <a:ln/>
        </p:spPr>
        <p:txBody>
          <a:bodyPr wrap="square" rtlCol="0" anchor="ctr"/>
          <a:lstStyle/>
          <a:p>
            <a:pPr marL="0" indent="0">
              <a:buNone/>
            </a:pPr>
            <a:r>
              <a:rPr lang="en-US" sz="1500" i="1" dirty="0">
                <a:solidFill>
                  <a:srgbClr val="1C7293"/>
                </a:solidFill>
                <a:latin typeface="Calibri" pitchFamily="34" charset="0"/>
                <a:ea typeface="Calibri" pitchFamily="34" charset="-122"/>
                <a:cs typeface="Calibri" pitchFamily="34" charset="-120"/>
              </a:rPr>
              <a:t>Section 10  •  Database and Backend Systems</a:t>
            </a:r>
            <a:endParaRPr lang="en-US" sz="1500" dirty="0"/>
          </a:p>
        </p:txBody>
      </p:sp>
      <p:sp>
        <p:nvSpPr>
          <p:cNvPr id="4" name="Shape 2"/>
          <p:cNvSpPr/>
          <p:nvPr/>
        </p:nvSpPr>
        <p:spPr>
          <a:xfrm>
            <a:off x="699516" y="1920240"/>
            <a:ext cx="3291840" cy="3291840"/>
          </a:xfrm>
          <a:prstGeom prst="roundRect">
            <a:avLst>
              <a:gd name="adj" fmla="val 3333"/>
            </a:avLst>
          </a:prstGeom>
          <a:solidFill>
            <a:srgbClr val="F4F8FA"/>
          </a:solidFill>
          <a:ln w="15875">
            <a:solidFill>
              <a:srgbClr val="1C7293"/>
            </a:solidFill>
            <a:prstDash val="solid"/>
          </a:ln>
        </p:spPr>
      </p:sp>
      <p:sp>
        <p:nvSpPr>
          <p:cNvPr id="5" name="Shape 3"/>
          <p:cNvSpPr/>
          <p:nvPr/>
        </p:nvSpPr>
        <p:spPr>
          <a:xfrm>
            <a:off x="1796796" y="2331720"/>
            <a:ext cx="1097280" cy="1097280"/>
          </a:xfrm>
          <a:prstGeom prst="ellipse">
            <a:avLst/>
          </a:prstGeom>
          <a:solidFill>
            <a:srgbClr val="0B2F4A"/>
          </a:solidFill>
          <a:ln/>
        </p:spPr>
      </p:sp>
      <p:sp>
        <p:nvSpPr>
          <p:cNvPr id="6" name="Text 4"/>
          <p:cNvSpPr/>
          <p:nvPr/>
        </p:nvSpPr>
        <p:spPr>
          <a:xfrm>
            <a:off x="1796796" y="2331720"/>
            <a:ext cx="1097280" cy="10972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YR</a:t>
            </a:r>
            <a:endParaRPr lang="en-US" sz="3000" dirty="0"/>
          </a:p>
        </p:txBody>
      </p:sp>
      <p:sp>
        <p:nvSpPr>
          <p:cNvPr id="7" name="Text 5"/>
          <p:cNvSpPr/>
          <p:nvPr/>
        </p:nvSpPr>
        <p:spPr>
          <a:xfrm>
            <a:off x="882396" y="3657600"/>
            <a:ext cx="2926080" cy="457200"/>
          </a:xfrm>
          <a:prstGeom prst="rect">
            <a:avLst/>
          </a:prstGeom>
          <a:noFill/>
          <a:ln/>
        </p:spPr>
        <p:txBody>
          <a:bodyPr wrap="square" rtlCol="0" anchor="ctr"/>
          <a:lstStyle/>
          <a:p>
            <a:pPr marL="0" indent="0" algn="ctr">
              <a:buNone/>
            </a:pPr>
            <a:r>
              <a:rPr lang="en-US" sz="1600" b="1" dirty="0">
                <a:solidFill>
                  <a:srgbClr val="1B2733"/>
                </a:solidFill>
                <a:latin typeface="Calibri" pitchFamily="34" charset="0"/>
                <a:ea typeface="Calibri" pitchFamily="34" charset="-122"/>
                <a:cs typeface="Calibri" pitchFamily="34" charset="-120"/>
              </a:rPr>
              <a:t>Yaswanth Reddy</a:t>
            </a:r>
            <a:endParaRPr lang="en-US" sz="1600" dirty="0"/>
          </a:p>
        </p:txBody>
      </p:sp>
      <p:sp>
        <p:nvSpPr>
          <p:cNvPr id="8" name="Text 6"/>
          <p:cNvSpPr/>
          <p:nvPr/>
        </p:nvSpPr>
        <p:spPr>
          <a:xfrm>
            <a:off x="882396" y="4160520"/>
            <a:ext cx="2926080" cy="274320"/>
          </a:xfrm>
          <a:prstGeom prst="rect">
            <a:avLst/>
          </a:prstGeom>
          <a:noFill/>
          <a:ln/>
        </p:spPr>
        <p:txBody>
          <a:bodyPr wrap="square" rtlCol="0" anchor="ctr"/>
          <a:lstStyle/>
          <a:p>
            <a:pPr marL="0" indent="0" algn="ctr">
              <a:buNone/>
            </a:pPr>
            <a:r>
              <a:rPr lang="en-US" sz="1050" dirty="0">
                <a:solidFill>
                  <a:srgbClr val="5B6B76"/>
                </a:solidFill>
                <a:latin typeface="Calibri" pitchFamily="34" charset="0"/>
                <a:ea typeface="Calibri" pitchFamily="34" charset="-122"/>
                <a:cs typeface="Calibri" pitchFamily="34" charset="-120"/>
              </a:rPr>
              <a:t>Roll No.</a:t>
            </a:r>
            <a:endParaRPr lang="en-US" sz="1050" dirty="0"/>
          </a:p>
        </p:txBody>
      </p:sp>
      <p:sp>
        <p:nvSpPr>
          <p:cNvPr id="9" name="Text 7"/>
          <p:cNvSpPr/>
          <p:nvPr/>
        </p:nvSpPr>
        <p:spPr>
          <a:xfrm>
            <a:off x="882396" y="4434840"/>
            <a:ext cx="2926080" cy="365760"/>
          </a:xfrm>
          <a:prstGeom prst="rect">
            <a:avLst/>
          </a:prstGeom>
          <a:noFill/>
          <a:ln/>
        </p:spPr>
        <p:txBody>
          <a:bodyPr wrap="square"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2520080048</a:t>
            </a:r>
            <a:endParaRPr lang="en-US" sz="1400" dirty="0"/>
          </a:p>
        </p:txBody>
      </p:sp>
      <p:sp>
        <p:nvSpPr>
          <p:cNvPr id="10" name="Shape 8"/>
          <p:cNvSpPr/>
          <p:nvPr/>
        </p:nvSpPr>
        <p:spPr>
          <a:xfrm>
            <a:off x="4448556" y="1920240"/>
            <a:ext cx="3291840" cy="3291840"/>
          </a:xfrm>
          <a:prstGeom prst="roundRect">
            <a:avLst>
              <a:gd name="adj" fmla="val 3333"/>
            </a:avLst>
          </a:prstGeom>
          <a:solidFill>
            <a:srgbClr val="F4F8FA"/>
          </a:solidFill>
          <a:ln w="15875">
            <a:solidFill>
              <a:srgbClr val="1C7293"/>
            </a:solidFill>
            <a:prstDash val="solid"/>
          </a:ln>
        </p:spPr>
      </p:sp>
      <p:sp>
        <p:nvSpPr>
          <p:cNvPr id="11" name="Shape 9"/>
          <p:cNvSpPr/>
          <p:nvPr/>
        </p:nvSpPr>
        <p:spPr>
          <a:xfrm>
            <a:off x="5545836" y="2331720"/>
            <a:ext cx="1097280" cy="1097280"/>
          </a:xfrm>
          <a:prstGeom prst="ellipse">
            <a:avLst/>
          </a:prstGeom>
          <a:solidFill>
            <a:srgbClr val="0B2F4A"/>
          </a:solidFill>
          <a:ln/>
        </p:spPr>
      </p:sp>
      <p:sp>
        <p:nvSpPr>
          <p:cNvPr id="12" name="Text 10"/>
          <p:cNvSpPr/>
          <p:nvPr/>
        </p:nvSpPr>
        <p:spPr>
          <a:xfrm>
            <a:off x="5545836" y="2331720"/>
            <a:ext cx="1097280" cy="10972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KR</a:t>
            </a:r>
            <a:endParaRPr lang="en-US" sz="3000" dirty="0"/>
          </a:p>
        </p:txBody>
      </p:sp>
      <p:sp>
        <p:nvSpPr>
          <p:cNvPr id="13" name="Text 11"/>
          <p:cNvSpPr/>
          <p:nvPr/>
        </p:nvSpPr>
        <p:spPr>
          <a:xfrm>
            <a:off x="4631436" y="3657600"/>
            <a:ext cx="2926080" cy="457200"/>
          </a:xfrm>
          <a:prstGeom prst="rect">
            <a:avLst/>
          </a:prstGeom>
          <a:noFill/>
          <a:ln/>
        </p:spPr>
        <p:txBody>
          <a:bodyPr wrap="square" rtlCol="0" anchor="ctr"/>
          <a:lstStyle/>
          <a:p>
            <a:pPr marL="0" indent="0" algn="ctr">
              <a:buNone/>
            </a:pPr>
            <a:r>
              <a:rPr lang="en-US" sz="1600" b="1" dirty="0">
                <a:solidFill>
                  <a:srgbClr val="1B2733"/>
                </a:solidFill>
                <a:latin typeface="Calibri" pitchFamily="34" charset="0"/>
                <a:ea typeface="Calibri" pitchFamily="34" charset="-122"/>
                <a:cs typeface="Calibri" pitchFamily="34" charset="-120"/>
              </a:rPr>
              <a:t>Kartheek Reddy</a:t>
            </a:r>
            <a:endParaRPr lang="en-US" sz="1600" dirty="0"/>
          </a:p>
        </p:txBody>
      </p:sp>
      <p:sp>
        <p:nvSpPr>
          <p:cNvPr id="14" name="Text 12"/>
          <p:cNvSpPr/>
          <p:nvPr/>
        </p:nvSpPr>
        <p:spPr>
          <a:xfrm>
            <a:off x="4631436" y="4160520"/>
            <a:ext cx="2926080" cy="274320"/>
          </a:xfrm>
          <a:prstGeom prst="rect">
            <a:avLst/>
          </a:prstGeom>
          <a:noFill/>
          <a:ln/>
        </p:spPr>
        <p:txBody>
          <a:bodyPr wrap="square" rtlCol="0" anchor="ctr"/>
          <a:lstStyle/>
          <a:p>
            <a:pPr marL="0" indent="0" algn="ctr">
              <a:buNone/>
            </a:pPr>
            <a:r>
              <a:rPr lang="en-US" sz="1050" dirty="0">
                <a:solidFill>
                  <a:srgbClr val="5B6B76"/>
                </a:solidFill>
                <a:latin typeface="Calibri" pitchFamily="34" charset="0"/>
                <a:ea typeface="Calibri" pitchFamily="34" charset="-122"/>
                <a:cs typeface="Calibri" pitchFamily="34" charset="-120"/>
              </a:rPr>
              <a:t>Roll No.</a:t>
            </a:r>
            <a:endParaRPr lang="en-US" sz="1050" dirty="0"/>
          </a:p>
        </p:txBody>
      </p:sp>
      <p:sp>
        <p:nvSpPr>
          <p:cNvPr id="15" name="Text 13"/>
          <p:cNvSpPr/>
          <p:nvPr/>
        </p:nvSpPr>
        <p:spPr>
          <a:xfrm>
            <a:off x="4631436" y="4434840"/>
            <a:ext cx="2926080" cy="365760"/>
          </a:xfrm>
          <a:prstGeom prst="rect">
            <a:avLst/>
          </a:prstGeom>
          <a:noFill/>
          <a:ln/>
        </p:spPr>
        <p:txBody>
          <a:bodyPr wrap="square"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2520090015</a:t>
            </a:r>
            <a:endParaRPr lang="en-US" sz="1400" dirty="0"/>
          </a:p>
        </p:txBody>
      </p:sp>
      <p:sp>
        <p:nvSpPr>
          <p:cNvPr id="16" name="Shape 14"/>
          <p:cNvSpPr/>
          <p:nvPr/>
        </p:nvSpPr>
        <p:spPr>
          <a:xfrm>
            <a:off x="8197596" y="1920240"/>
            <a:ext cx="3291840" cy="3291840"/>
          </a:xfrm>
          <a:prstGeom prst="roundRect">
            <a:avLst>
              <a:gd name="adj" fmla="val 3333"/>
            </a:avLst>
          </a:prstGeom>
          <a:solidFill>
            <a:srgbClr val="F4F8FA"/>
          </a:solidFill>
          <a:ln w="15875">
            <a:solidFill>
              <a:srgbClr val="1C7293"/>
            </a:solidFill>
            <a:prstDash val="solid"/>
          </a:ln>
        </p:spPr>
      </p:sp>
      <p:sp>
        <p:nvSpPr>
          <p:cNvPr id="17" name="Shape 15"/>
          <p:cNvSpPr/>
          <p:nvPr/>
        </p:nvSpPr>
        <p:spPr>
          <a:xfrm>
            <a:off x="9294876" y="2331720"/>
            <a:ext cx="1097280" cy="1097280"/>
          </a:xfrm>
          <a:prstGeom prst="ellipse">
            <a:avLst/>
          </a:prstGeom>
          <a:solidFill>
            <a:srgbClr val="0B2F4A"/>
          </a:solidFill>
          <a:ln/>
        </p:spPr>
      </p:sp>
      <p:sp>
        <p:nvSpPr>
          <p:cNvPr id="18" name="Text 16"/>
          <p:cNvSpPr/>
          <p:nvPr/>
        </p:nvSpPr>
        <p:spPr>
          <a:xfrm>
            <a:off x="9294876" y="2331720"/>
            <a:ext cx="1097280" cy="10972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VS</a:t>
            </a:r>
            <a:endParaRPr lang="en-US" sz="3000" dirty="0"/>
          </a:p>
        </p:txBody>
      </p:sp>
      <p:sp>
        <p:nvSpPr>
          <p:cNvPr id="19" name="Text 17"/>
          <p:cNvSpPr/>
          <p:nvPr/>
        </p:nvSpPr>
        <p:spPr>
          <a:xfrm>
            <a:off x="8380476" y="3657600"/>
            <a:ext cx="2926080" cy="457200"/>
          </a:xfrm>
          <a:prstGeom prst="rect">
            <a:avLst/>
          </a:prstGeom>
          <a:noFill/>
          <a:ln/>
        </p:spPr>
        <p:txBody>
          <a:bodyPr wrap="square" rtlCol="0" anchor="ctr"/>
          <a:lstStyle/>
          <a:p>
            <a:pPr marL="0" indent="0" algn="ctr">
              <a:buNone/>
            </a:pPr>
            <a:r>
              <a:rPr lang="en-US" sz="1600" b="1" dirty="0">
                <a:solidFill>
                  <a:srgbClr val="1B2733"/>
                </a:solidFill>
                <a:latin typeface="Calibri" pitchFamily="34" charset="0"/>
                <a:ea typeface="Calibri" pitchFamily="34" charset="-122"/>
                <a:cs typeface="Calibri" pitchFamily="34" charset="-120"/>
              </a:rPr>
              <a:t>Venkat Sai</a:t>
            </a:r>
            <a:endParaRPr lang="en-US" sz="1600" dirty="0"/>
          </a:p>
        </p:txBody>
      </p:sp>
      <p:sp>
        <p:nvSpPr>
          <p:cNvPr id="20" name="Text 18"/>
          <p:cNvSpPr/>
          <p:nvPr/>
        </p:nvSpPr>
        <p:spPr>
          <a:xfrm>
            <a:off x="8380476" y="4160520"/>
            <a:ext cx="2926080" cy="274320"/>
          </a:xfrm>
          <a:prstGeom prst="rect">
            <a:avLst/>
          </a:prstGeom>
          <a:noFill/>
          <a:ln/>
        </p:spPr>
        <p:txBody>
          <a:bodyPr wrap="square" rtlCol="0" anchor="ctr"/>
          <a:lstStyle/>
          <a:p>
            <a:pPr marL="0" indent="0" algn="ctr">
              <a:buNone/>
            </a:pPr>
            <a:r>
              <a:rPr lang="en-US" sz="1050" dirty="0">
                <a:solidFill>
                  <a:srgbClr val="5B6B76"/>
                </a:solidFill>
                <a:latin typeface="Calibri" pitchFamily="34" charset="0"/>
                <a:ea typeface="Calibri" pitchFamily="34" charset="-122"/>
                <a:cs typeface="Calibri" pitchFamily="34" charset="-120"/>
              </a:rPr>
              <a:t>Roll No.</a:t>
            </a:r>
            <a:endParaRPr lang="en-US" sz="1050" dirty="0"/>
          </a:p>
        </p:txBody>
      </p:sp>
      <p:sp>
        <p:nvSpPr>
          <p:cNvPr id="21" name="Text 19"/>
          <p:cNvSpPr/>
          <p:nvPr/>
        </p:nvSpPr>
        <p:spPr>
          <a:xfrm>
            <a:off x="8380476" y="4434840"/>
            <a:ext cx="2926080" cy="365760"/>
          </a:xfrm>
          <a:prstGeom prst="rect">
            <a:avLst/>
          </a:prstGeom>
          <a:noFill/>
          <a:ln/>
        </p:spPr>
        <p:txBody>
          <a:bodyPr wrap="square"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2520090034</a:t>
            </a:r>
            <a:endParaRPr lang="en-US" sz="1400" dirty="0"/>
          </a:p>
        </p:txBody>
      </p:sp>
      <p:sp>
        <p:nvSpPr>
          <p:cNvPr id="22" name="Text 20"/>
          <p:cNvSpPr/>
          <p:nvPr/>
        </p:nvSpPr>
        <p:spPr>
          <a:xfrm>
            <a:off x="548640" y="5806440"/>
            <a:ext cx="8229600" cy="365760"/>
          </a:xfrm>
          <a:prstGeom prst="rect">
            <a:avLst/>
          </a:prstGeom>
          <a:noFill/>
          <a:ln/>
        </p:spPr>
        <p:txBody>
          <a:bodyPr wrap="square" rtlCol="0" anchor="ctr"/>
          <a:lstStyle/>
          <a:p>
            <a:pPr marL="0" indent="0">
              <a:buNone/>
            </a:pPr>
            <a:r>
              <a:rPr lang="en-US" sz="1300" dirty="0">
                <a:solidFill>
                  <a:srgbClr val="5B6B76"/>
                </a:solidFill>
                <a:latin typeface="Calibri" pitchFamily="34" charset="0"/>
                <a:ea typeface="Calibri" pitchFamily="34" charset="-122"/>
                <a:cs typeface="Calibri" pitchFamily="34" charset="-120"/>
              </a:rPr>
              <a:t>Guide Name &amp; Signature: ______________________________</a:t>
            </a:r>
            <a:endParaRPr lang="en-US" sz="1300" dirty="0"/>
          </a:p>
        </p:txBody>
      </p:sp>
      <p:sp>
        <p:nvSpPr>
          <p:cNvPr id="23" name="Text 21"/>
          <p:cNvSpPr/>
          <p:nvPr/>
        </p:nvSpPr>
        <p:spPr>
          <a:xfrm>
            <a:off x="457200" y="6519672"/>
            <a:ext cx="5486400" cy="274320"/>
          </a:xfrm>
          <a:prstGeom prst="rect">
            <a:avLst/>
          </a:prstGeom>
          <a:noFill/>
          <a:ln/>
        </p:spPr>
        <p:txBody>
          <a:bodyPr wrap="square" rtlCol="0" anchor="ctr"/>
          <a:lstStyle/>
          <a:p>
            <a:pPr marL="0" indent="0" algn="l">
              <a:buNone/>
            </a:pPr>
            <a:r>
              <a:rPr lang="en-US" sz="900" dirty="0">
                <a:solidFill>
                  <a:srgbClr val="5B6B76"/>
                </a:solidFill>
                <a:latin typeface="Calibri" pitchFamily="34" charset="0"/>
                <a:ea typeface="Calibri" pitchFamily="34" charset="-122"/>
                <a:cs typeface="Calibri" pitchFamily="34" charset="-120"/>
              </a:rPr>
              <a:t>Library &amp; Archives Self-Service Platform</a:t>
            </a:r>
            <a:endParaRPr lang="en-US" sz="900" dirty="0"/>
          </a:p>
        </p:txBody>
      </p:sp>
      <p:sp>
        <p:nvSpPr>
          <p:cNvPr id="24" name="Text 22"/>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7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400" b="1" dirty="0">
                <a:solidFill>
                  <a:srgbClr val="0B2F4A"/>
                </a:solidFill>
                <a:latin typeface="Cambria" pitchFamily="34" charset="0"/>
                <a:ea typeface="Cambria" pitchFamily="34" charset="-122"/>
                <a:cs typeface="Cambria" pitchFamily="34" charset="-120"/>
              </a:rPr>
              <a:t>Conclusion</a:t>
            </a:r>
            <a:endParaRPr lang="en-US" sz="3400" dirty="0"/>
          </a:p>
        </p:txBody>
      </p:sp>
      <p:sp>
        <p:nvSpPr>
          <p:cNvPr id="3" name="Text 1"/>
          <p:cNvSpPr/>
          <p:nvPr/>
        </p:nvSpPr>
        <p:spPr>
          <a:xfrm>
            <a:off x="548640" y="1051560"/>
            <a:ext cx="8686800" cy="365760"/>
          </a:xfrm>
          <a:prstGeom prst="rect">
            <a:avLst/>
          </a:prstGeom>
          <a:noFill/>
          <a:ln/>
        </p:spPr>
        <p:txBody>
          <a:bodyPr wrap="square" rtlCol="0" anchor="ctr"/>
          <a:lstStyle/>
          <a:p>
            <a:pPr marL="0" indent="0">
              <a:buNone/>
            </a:pPr>
            <a:r>
              <a:rPr lang="en-US" sz="1500" i="1" dirty="0">
                <a:solidFill>
                  <a:srgbClr val="1C7293"/>
                </a:solidFill>
                <a:latin typeface="Calibri" pitchFamily="34" charset="0"/>
                <a:ea typeface="Calibri" pitchFamily="34" charset="-122"/>
                <a:cs typeface="Calibri" pitchFamily="34" charset="-120"/>
              </a:rPr>
              <a:t>Bringing library operations into the digital age</a:t>
            </a:r>
            <a:endParaRPr lang="en-US" sz="1500" dirty="0"/>
          </a:p>
        </p:txBody>
      </p:sp>
      <p:sp>
        <p:nvSpPr>
          <p:cNvPr id="4" name="Shape 2"/>
          <p:cNvSpPr/>
          <p:nvPr/>
        </p:nvSpPr>
        <p:spPr>
          <a:xfrm>
            <a:off x="548640" y="1691640"/>
            <a:ext cx="10881360" cy="1280160"/>
          </a:xfrm>
          <a:prstGeom prst="roundRect">
            <a:avLst>
              <a:gd name="adj" fmla="val 7143"/>
            </a:avLst>
          </a:prstGeom>
          <a:solidFill>
            <a:srgbClr val="F4F8FA"/>
          </a:solidFill>
          <a:ln w="12700">
            <a:solidFill>
              <a:srgbClr val="1C7293"/>
            </a:solidFill>
            <a:prstDash val="solid"/>
          </a:ln>
        </p:spPr>
      </p:sp>
      <p:sp>
        <p:nvSpPr>
          <p:cNvPr id="5" name="Text 3"/>
          <p:cNvSpPr/>
          <p:nvPr/>
        </p:nvSpPr>
        <p:spPr>
          <a:xfrm>
            <a:off x="822960" y="1828800"/>
            <a:ext cx="10332720" cy="1005840"/>
          </a:xfrm>
          <a:prstGeom prst="rect">
            <a:avLst/>
          </a:prstGeom>
          <a:noFill/>
          <a:ln/>
        </p:spPr>
        <p:txBody>
          <a:bodyPr wrap="square" rtlCol="0" anchor="ctr"/>
          <a:lstStyle/>
          <a:p>
            <a:pPr marL="0" indent="0">
              <a:lnSpc>
                <a:spcPct val="125000"/>
              </a:lnSpc>
              <a:buNone/>
            </a:pPr>
            <a:r>
              <a:rPr lang="en-US" sz="1350" dirty="0">
                <a:solidFill>
                  <a:srgbClr val="1B2733"/>
                </a:solidFill>
                <a:latin typeface="Calibri" pitchFamily="34" charset="0"/>
                <a:ea typeface="Calibri" pitchFamily="34" charset="-122"/>
                <a:cs typeface="Calibri" pitchFamily="34" charset="-120"/>
              </a:rPr>
              <a:t>The Library &amp; Archives Self-Service Platform addresses long-standing inefficiencies in library operations by giving members a fast, reliable, and always-accessible way to browse, reserve, and track resources. Built on a React.js, Node.js, and MySQL stack, the system is scalable, maintainable, and ready for real-world deployment in academic and public libraries.</a:t>
            </a:r>
            <a:endParaRPr lang="en-US" sz="1350" dirty="0"/>
          </a:p>
        </p:txBody>
      </p:sp>
      <p:sp>
        <p:nvSpPr>
          <p:cNvPr id="6" name="Shape 4"/>
          <p:cNvSpPr/>
          <p:nvPr/>
        </p:nvSpPr>
        <p:spPr>
          <a:xfrm>
            <a:off x="548640" y="3246120"/>
            <a:ext cx="5257800" cy="1234440"/>
          </a:xfrm>
          <a:prstGeom prst="roundRect">
            <a:avLst>
              <a:gd name="adj" fmla="val 7407"/>
            </a:avLst>
          </a:prstGeom>
          <a:solidFill>
            <a:srgbClr val="0B2F4A"/>
          </a:solidFill>
          <a:ln/>
        </p:spPr>
      </p:sp>
      <p:sp>
        <p:nvSpPr>
          <p:cNvPr id="7" name="Shape 5"/>
          <p:cNvSpPr/>
          <p:nvPr/>
        </p:nvSpPr>
        <p:spPr>
          <a:xfrm>
            <a:off x="749808" y="3611880"/>
            <a:ext cx="502920" cy="502920"/>
          </a:xfrm>
          <a:prstGeom prst="ellipse">
            <a:avLst/>
          </a:prstGeom>
          <a:solidFill>
            <a:srgbClr val="E8A33D"/>
          </a:solidFill>
          <a:ln/>
        </p:spPr>
      </p:sp>
      <p:sp>
        <p:nvSpPr>
          <p:cNvPr id="8" name="Text 6"/>
          <p:cNvSpPr/>
          <p:nvPr/>
        </p:nvSpPr>
        <p:spPr>
          <a:xfrm>
            <a:off x="749808" y="361188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17320" y="3410712"/>
            <a:ext cx="4206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Reduced Manual Workload</a:t>
            </a:r>
            <a:endParaRPr lang="en-US" sz="1400" dirty="0"/>
          </a:p>
        </p:txBody>
      </p:sp>
      <p:sp>
        <p:nvSpPr>
          <p:cNvPr id="10" name="Text 8"/>
          <p:cNvSpPr/>
          <p:nvPr/>
        </p:nvSpPr>
        <p:spPr>
          <a:xfrm>
            <a:off x="1417320" y="3813048"/>
            <a:ext cx="4206240" cy="54864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Frees up library staff from repetitive counter tasks.</a:t>
            </a:r>
            <a:endParaRPr lang="en-US" sz="1150" dirty="0"/>
          </a:p>
        </p:txBody>
      </p:sp>
      <p:sp>
        <p:nvSpPr>
          <p:cNvPr id="11" name="Shape 9"/>
          <p:cNvSpPr/>
          <p:nvPr/>
        </p:nvSpPr>
        <p:spPr>
          <a:xfrm>
            <a:off x="6172200" y="3246120"/>
            <a:ext cx="5257800" cy="1234440"/>
          </a:xfrm>
          <a:prstGeom prst="roundRect">
            <a:avLst>
              <a:gd name="adj" fmla="val 7407"/>
            </a:avLst>
          </a:prstGeom>
          <a:solidFill>
            <a:srgbClr val="0B2F4A"/>
          </a:solidFill>
          <a:ln/>
        </p:spPr>
      </p:sp>
      <p:sp>
        <p:nvSpPr>
          <p:cNvPr id="12" name="Shape 10"/>
          <p:cNvSpPr/>
          <p:nvPr/>
        </p:nvSpPr>
        <p:spPr>
          <a:xfrm>
            <a:off x="6373368" y="3611880"/>
            <a:ext cx="502920" cy="502920"/>
          </a:xfrm>
          <a:prstGeom prst="ellipse">
            <a:avLst/>
          </a:prstGeom>
          <a:solidFill>
            <a:srgbClr val="E8A33D"/>
          </a:solidFill>
          <a:ln/>
        </p:spPr>
      </p:sp>
      <p:sp>
        <p:nvSpPr>
          <p:cNvPr id="13" name="Text 11"/>
          <p:cNvSpPr/>
          <p:nvPr/>
        </p:nvSpPr>
        <p:spPr>
          <a:xfrm>
            <a:off x="6373368" y="361188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7040880" y="3410712"/>
            <a:ext cx="4206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Better Member Experience</a:t>
            </a:r>
            <a:endParaRPr lang="en-US" sz="1400" dirty="0"/>
          </a:p>
        </p:txBody>
      </p:sp>
      <p:sp>
        <p:nvSpPr>
          <p:cNvPr id="15" name="Text 13"/>
          <p:cNvSpPr/>
          <p:nvPr/>
        </p:nvSpPr>
        <p:spPr>
          <a:xfrm>
            <a:off x="7040880" y="3813048"/>
            <a:ext cx="4206240" cy="54864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Faster, more convenient access improves engagement.</a:t>
            </a:r>
            <a:endParaRPr lang="en-US" sz="1150" dirty="0"/>
          </a:p>
        </p:txBody>
      </p:sp>
      <p:sp>
        <p:nvSpPr>
          <p:cNvPr id="16" name="Shape 14"/>
          <p:cNvSpPr/>
          <p:nvPr/>
        </p:nvSpPr>
        <p:spPr>
          <a:xfrm>
            <a:off x="548640" y="4709160"/>
            <a:ext cx="5257800" cy="1234440"/>
          </a:xfrm>
          <a:prstGeom prst="roundRect">
            <a:avLst>
              <a:gd name="adj" fmla="val 7407"/>
            </a:avLst>
          </a:prstGeom>
          <a:solidFill>
            <a:srgbClr val="0B2F4A"/>
          </a:solidFill>
          <a:ln/>
        </p:spPr>
      </p:sp>
      <p:sp>
        <p:nvSpPr>
          <p:cNvPr id="17" name="Shape 15"/>
          <p:cNvSpPr/>
          <p:nvPr/>
        </p:nvSpPr>
        <p:spPr>
          <a:xfrm>
            <a:off x="749808" y="5074920"/>
            <a:ext cx="502920" cy="502920"/>
          </a:xfrm>
          <a:prstGeom prst="ellipse">
            <a:avLst/>
          </a:prstGeom>
          <a:solidFill>
            <a:srgbClr val="E8A33D"/>
          </a:solidFill>
          <a:ln/>
        </p:spPr>
      </p:sp>
      <p:sp>
        <p:nvSpPr>
          <p:cNvPr id="18" name="Text 16"/>
          <p:cNvSpPr/>
          <p:nvPr/>
        </p:nvSpPr>
        <p:spPr>
          <a:xfrm>
            <a:off x="749808" y="507492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1417320" y="4873752"/>
            <a:ext cx="4206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Scalable Architecture</a:t>
            </a:r>
            <a:endParaRPr lang="en-US" sz="1400" dirty="0"/>
          </a:p>
        </p:txBody>
      </p:sp>
      <p:sp>
        <p:nvSpPr>
          <p:cNvPr id="20" name="Text 18"/>
          <p:cNvSpPr/>
          <p:nvPr/>
        </p:nvSpPr>
        <p:spPr>
          <a:xfrm>
            <a:off x="1417320" y="5276088"/>
            <a:ext cx="4206240" cy="54864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React, Node.js, and MySQL scale easily as usage grows.</a:t>
            </a:r>
            <a:endParaRPr lang="en-US" sz="1150" dirty="0"/>
          </a:p>
        </p:txBody>
      </p:sp>
      <p:sp>
        <p:nvSpPr>
          <p:cNvPr id="21" name="Shape 19"/>
          <p:cNvSpPr/>
          <p:nvPr/>
        </p:nvSpPr>
        <p:spPr>
          <a:xfrm>
            <a:off x="6172200" y="4709160"/>
            <a:ext cx="5257800" cy="1234440"/>
          </a:xfrm>
          <a:prstGeom prst="roundRect">
            <a:avLst>
              <a:gd name="adj" fmla="val 7407"/>
            </a:avLst>
          </a:prstGeom>
          <a:solidFill>
            <a:srgbClr val="0B2F4A"/>
          </a:solidFill>
          <a:ln/>
        </p:spPr>
      </p:sp>
      <p:sp>
        <p:nvSpPr>
          <p:cNvPr id="22" name="Shape 20"/>
          <p:cNvSpPr/>
          <p:nvPr/>
        </p:nvSpPr>
        <p:spPr>
          <a:xfrm>
            <a:off x="6373368" y="5074920"/>
            <a:ext cx="502920" cy="502920"/>
          </a:xfrm>
          <a:prstGeom prst="ellipse">
            <a:avLst/>
          </a:prstGeom>
          <a:solidFill>
            <a:srgbClr val="E8A33D"/>
          </a:solidFill>
          <a:ln/>
        </p:spPr>
      </p:sp>
      <p:sp>
        <p:nvSpPr>
          <p:cNvPr id="23" name="Text 21"/>
          <p:cNvSpPr/>
          <p:nvPr/>
        </p:nvSpPr>
        <p:spPr>
          <a:xfrm>
            <a:off x="6373368" y="5074920"/>
            <a:ext cx="502920" cy="502920"/>
          </a:xfrm>
          <a:prstGeom prst="rect">
            <a:avLst/>
          </a:prstGeom>
          <a:noFill/>
          <a:ln/>
        </p:spPr>
        <p:txBody>
          <a:bodyPr wrap="square" rtlCol="0" anchor="ctr"/>
          <a:lstStyle/>
          <a:p>
            <a:pPr marL="0" indent="0" algn="ctr">
              <a:buNone/>
            </a:pPr>
            <a:r>
              <a:rPr lang="en-US" sz="1800" b="1" dirty="0">
                <a:solidFill>
                  <a:srgbClr val="0B2F4A"/>
                </a:solidFill>
                <a:latin typeface="Calibri" pitchFamily="34" charset="0"/>
                <a:ea typeface="Calibri" pitchFamily="34" charset="-122"/>
                <a:cs typeface="Calibri" pitchFamily="34" charset="-120"/>
              </a:rPr>
              <a:t>4</a:t>
            </a:r>
            <a:endParaRPr lang="en-US" sz="1800" dirty="0"/>
          </a:p>
        </p:txBody>
      </p:sp>
      <p:sp>
        <p:nvSpPr>
          <p:cNvPr id="24" name="Text 22"/>
          <p:cNvSpPr/>
          <p:nvPr/>
        </p:nvSpPr>
        <p:spPr>
          <a:xfrm>
            <a:off x="7040880" y="4873752"/>
            <a:ext cx="4206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Room to Grow</a:t>
            </a:r>
            <a:endParaRPr lang="en-US" sz="1400" dirty="0"/>
          </a:p>
        </p:txBody>
      </p:sp>
      <p:sp>
        <p:nvSpPr>
          <p:cNvPr id="25" name="Text 23"/>
          <p:cNvSpPr/>
          <p:nvPr/>
        </p:nvSpPr>
        <p:spPr>
          <a:xfrm>
            <a:off x="7040880" y="5276088"/>
            <a:ext cx="4206240" cy="548640"/>
          </a:xfrm>
          <a:prstGeom prst="rect">
            <a:avLst/>
          </a:prstGeom>
          <a:noFill/>
          <a:ln/>
        </p:spPr>
        <p:txBody>
          <a:bodyPr wrap="square" rtlCol="0" anchor="ctr"/>
          <a:lstStyle/>
          <a:p>
            <a:pPr marL="0" indent="0">
              <a:buNone/>
            </a:pPr>
            <a:r>
              <a:rPr lang="en-US" sz="1150" dirty="0">
                <a:solidFill>
                  <a:srgbClr val="CFE8F3"/>
                </a:solidFill>
                <a:latin typeface="Calibri" pitchFamily="34" charset="0"/>
                <a:ea typeface="Calibri" pitchFamily="34" charset="-122"/>
                <a:cs typeface="Calibri" pitchFamily="34" charset="-120"/>
              </a:rPr>
              <a:t>A strong foundation for future features like smart recommendations.</a:t>
            </a:r>
            <a:endParaRPr lang="en-US" sz="1150" dirty="0"/>
          </a:p>
        </p:txBody>
      </p:sp>
      <p:sp>
        <p:nvSpPr>
          <p:cNvPr id="26" name="Text 24"/>
          <p:cNvSpPr/>
          <p:nvPr/>
        </p:nvSpPr>
        <p:spPr>
          <a:xfrm>
            <a:off x="457200" y="6519672"/>
            <a:ext cx="5486400" cy="274320"/>
          </a:xfrm>
          <a:prstGeom prst="rect">
            <a:avLst/>
          </a:prstGeom>
          <a:noFill/>
          <a:ln/>
        </p:spPr>
        <p:txBody>
          <a:bodyPr wrap="square" rtlCol="0" anchor="ctr"/>
          <a:lstStyle/>
          <a:p>
            <a:pPr marL="0" indent="0" algn="l">
              <a:buNone/>
            </a:pPr>
            <a:r>
              <a:rPr lang="en-US" sz="900" dirty="0">
                <a:solidFill>
                  <a:srgbClr val="5B6B76"/>
                </a:solidFill>
                <a:latin typeface="Calibri" pitchFamily="34" charset="0"/>
                <a:ea typeface="Calibri" pitchFamily="34" charset="-122"/>
                <a:cs typeface="Calibri" pitchFamily="34" charset="-120"/>
              </a:rPr>
              <a:t>Library &amp; Archives Self-Service Platform</a:t>
            </a:r>
            <a:endParaRPr lang="en-US" sz="900" dirty="0"/>
          </a:p>
        </p:txBody>
      </p:sp>
      <p:sp>
        <p:nvSpPr>
          <p:cNvPr id="27" name="Text 25"/>
          <p:cNvSpPr/>
          <p:nvPr/>
        </p:nvSpPr>
        <p:spPr>
          <a:xfrm>
            <a:off x="11274552" y="6519672"/>
            <a:ext cx="457200" cy="274320"/>
          </a:xfrm>
          <a:prstGeom prst="rect">
            <a:avLst/>
          </a:prstGeom>
          <a:noFill/>
          <a:ln/>
        </p:spPr>
        <p:txBody>
          <a:bodyPr wrap="square" rtlCol="0" anchor="ctr"/>
          <a:lstStyle/>
          <a:p>
            <a:pPr marL="0" indent="0" algn="r">
              <a:buNone/>
            </a:pPr>
            <a:r>
              <a:rPr lang="en-US" sz="900" dirty="0">
                <a:solidFill>
                  <a:srgbClr val="5B6B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F4A"/>
        </a:solidFill>
        <a:effectLst/>
      </p:bgPr>
    </p:bg>
    <p:spTree>
      <p:nvGrpSpPr>
        <p:cNvPr id="1" name=""/>
        <p:cNvGrpSpPr/>
        <p:nvPr/>
      </p:nvGrpSpPr>
      <p:grpSpPr>
        <a:xfrm>
          <a:off x="0" y="0"/>
          <a:ext cx="0" cy="0"/>
          <a:chOff x="0" y="0"/>
          <a:chExt cx="0" cy="0"/>
        </a:xfrm>
      </p:grpSpPr>
      <p:sp>
        <p:nvSpPr>
          <p:cNvPr id="2" name="Shape 0"/>
          <p:cNvSpPr/>
          <p:nvPr/>
        </p:nvSpPr>
        <p:spPr>
          <a:xfrm>
            <a:off x="-1371600" y="4114800"/>
            <a:ext cx="5029200" cy="5029200"/>
          </a:xfrm>
          <a:prstGeom prst="ellipse">
            <a:avLst/>
          </a:prstGeom>
          <a:solidFill>
            <a:srgbClr val="21295C"/>
          </a:solidFill>
          <a:ln/>
        </p:spPr>
      </p:sp>
      <p:sp>
        <p:nvSpPr>
          <p:cNvPr id="3" name="Shape 1"/>
          <p:cNvSpPr/>
          <p:nvPr/>
        </p:nvSpPr>
        <p:spPr>
          <a:xfrm>
            <a:off x="-274320" y="4846320"/>
            <a:ext cx="2926080" cy="2926080"/>
          </a:xfrm>
          <a:prstGeom prst="ellipse">
            <a:avLst/>
          </a:prstGeom>
          <a:solidFill>
            <a:srgbClr val="1C7293"/>
          </a:solidFill>
          <a:ln/>
        </p:spPr>
      </p:sp>
      <p:sp>
        <p:nvSpPr>
          <p:cNvPr id="4" name="Text 2"/>
          <p:cNvSpPr/>
          <p:nvPr/>
        </p:nvSpPr>
        <p:spPr>
          <a:xfrm>
            <a:off x="0" y="2377440"/>
            <a:ext cx="12188952" cy="91440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0" y="3246120"/>
            <a:ext cx="12188952" cy="548640"/>
          </a:xfrm>
          <a:prstGeom prst="rect">
            <a:avLst/>
          </a:prstGeom>
          <a:noFill/>
          <a:ln/>
        </p:spPr>
        <p:txBody>
          <a:bodyPr wrap="square" rtlCol="0" anchor="ctr"/>
          <a:lstStyle/>
          <a:p>
            <a:pPr marL="0" indent="0" algn="ctr">
              <a:buNone/>
            </a:pPr>
            <a:r>
              <a:rPr lang="en-US" sz="1800" i="1" dirty="0">
                <a:solidFill>
                  <a:srgbClr val="E8A33D"/>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0" y="4023360"/>
            <a:ext cx="12188952" cy="365760"/>
          </a:xfrm>
          <a:prstGeom prst="rect">
            <a:avLst/>
          </a:prstGeom>
          <a:noFill/>
          <a:ln/>
        </p:spPr>
        <p:txBody>
          <a:bodyPr wrap="square" rtlCol="0" anchor="ctr"/>
          <a:lstStyle/>
          <a:p>
            <a:pPr marL="0" indent="0" algn="ctr">
              <a:buNone/>
            </a:pPr>
            <a:r>
              <a:rPr lang="en-US" sz="1200" dirty="0">
                <a:solidFill>
                  <a:srgbClr val="9FC3D6"/>
                </a:solidFill>
                <a:latin typeface="Calibri" pitchFamily="34" charset="0"/>
                <a:ea typeface="Calibri" pitchFamily="34" charset="-122"/>
                <a:cs typeface="Calibri" pitchFamily="34" charset="-120"/>
              </a:rPr>
              <a:t>Library &amp; Archives Self-Service Platform  |  Section 10  |  Database and Backend Systems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752</Words>
  <Application>Microsoft Office PowerPoint</Application>
  <PresentationFormat>Widescreen</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2</cp:revision>
  <dcterms:created xsi:type="dcterms:W3CDTF">2026-08-19T09:28:57Z</dcterms:created>
  <dcterms:modified xsi:type="dcterms:W3CDTF">2026-09-30T09:25:20Z</dcterms:modified>
</cp:coreProperties>
</file>