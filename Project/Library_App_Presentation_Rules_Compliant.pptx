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51206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1795760" y="5394960"/>
            <a:ext cx="2194560" cy="2194560"/>
          </a:xfrm>
          <a:prstGeom prst="ellipse">
            <a:avLst/>
          </a:prstGeom>
          <a:solidFill>
            <a:srgbClr val="0B2F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BACKEND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&amp; Archives
</a:t>
            </a:r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Platform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Member Self-Service  —  Review 2 Presentation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 •  Y25, 2026–2027, Trimester 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Reddy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2520080048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Reddy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 Sai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2520090034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&amp; Signature: ______________________________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library workflows still hold members back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Web-Only Access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6060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rely on in-person visits or limited web portals to search, reserve, or renew items.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084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Processes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32320" y="26060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due dates and fines requires slow, manual lookups.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history and fines are scattered across disconnected systems.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Communication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48920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miss due-date reminders and library announcements.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aims to achieve for members and staff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0160" y="1874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87452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round-the-clock online access to library services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80160" y="271576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271576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self-service reservation, renewal, and catalog browsing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80160" y="355701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557016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fine calculation, tracking, and alerts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80160" y="439826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39826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borrowing and fine records accurate and synchronized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" y="5239512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1508760" y="5239512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scalable, maintainable full-stack system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web platform members can use anytime, anywhere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Browse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and explore the full catalog online.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Resources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items instantly and track history.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057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Fines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outstanding fines and due dates anytime.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due dates &amp; reservations.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251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262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Caching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2628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viewed data stays available offline.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9244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251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2104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Sync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32104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 keeps data consistent.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web architecture: React.js, Node.js, and MySQL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0B2F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Component-based UI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Router (navigation)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Axios (API calls)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0B2F4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Express.js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endpoints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657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 logic layer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 &amp; session handling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83880" y="18288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0B2F4A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Relational data storage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58200" y="3657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Books, members &amp; fines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5820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Reservation records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5257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React.js frontend calls the Node.js + Express.js backend over REST APIs. The backend applies business logic and queries MySQL, then returns data for display.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/ Functionalities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modules that make up the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Registration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sign-up, login, session handling.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0574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Search &amp; Browse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the full resource catalog.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0574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&amp; Borrowing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items and track borrowing history.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 &amp; Tracking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fine computation &amp; payment status.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2628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Alerts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2628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for due dates and updates.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9244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2104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 &amp; Offline Cache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2104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local and server data consistent.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in the member-facing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7D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984248"/>
            <a:ext cx="2386584" cy="320040"/>
          </a:xfrm>
          <a:prstGeom prst="rect">
            <a:avLst/>
          </a:prstGeom>
          <a:solidFill>
            <a:srgbClr val="0B2F4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14600"/>
            <a:ext cx="2057400" cy="914400"/>
          </a:xfrm>
          <a:prstGeom prst="rect">
            <a:avLst/>
          </a:prstGeom>
          <a:solidFill>
            <a:srgbClr val="CFE8F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566160"/>
            <a:ext cx="2057400" cy="201168"/>
          </a:xfrm>
          <a:prstGeom prst="rect">
            <a:avLst/>
          </a:prstGeom>
          <a:solidFill>
            <a:srgbClr val="F4F8FA"/>
          </a:solidFill>
          <a:ln w="9525">
            <a:solidFill>
              <a:srgbClr val="C7D2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931920"/>
            <a:ext cx="2057400" cy="201168"/>
          </a:xfrm>
          <a:prstGeom prst="rect">
            <a:avLst/>
          </a:prstGeom>
          <a:solidFill>
            <a:srgbClr val="F4F8FA"/>
          </a:solidFill>
          <a:ln w="9525">
            <a:solidFill>
              <a:srgbClr val="C7D2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37560" y="187452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7D2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984248"/>
            <a:ext cx="2386584" cy="320040"/>
          </a:xfrm>
          <a:prstGeom prst="rect">
            <a:avLst/>
          </a:prstGeom>
          <a:solidFill>
            <a:srgbClr val="0B2F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606040"/>
            <a:ext cx="205740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C7D2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3017520"/>
            <a:ext cx="2057400" cy="292608"/>
          </a:xfrm>
          <a:prstGeom prst="rect">
            <a:avLst/>
          </a:prstGeom>
          <a:solidFill>
            <a:srgbClr val="F4F8FA"/>
          </a:solidFill>
          <a:ln w="9525">
            <a:solidFill>
              <a:srgbClr val="C7D2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3520440"/>
            <a:ext cx="2057400" cy="329184"/>
          </a:xfrm>
          <a:prstGeom prst="roundRect">
            <a:avLst>
              <a:gd name="adj" fmla="val 55556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7D2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1928" y="1984248"/>
            <a:ext cx="2386584" cy="320040"/>
          </a:xfrm>
          <a:prstGeom prst="rect">
            <a:avLst/>
          </a:prstGeom>
          <a:solidFill>
            <a:srgbClr val="0B2F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560320"/>
            <a:ext cx="2057400" cy="274320"/>
          </a:xfrm>
          <a:prstGeom prst="rect">
            <a:avLst/>
          </a:prstGeom>
          <a:solidFill>
            <a:srgbClr val="F4F8FA"/>
          </a:solidFill>
          <a:ln w="9525">
            <a:solidFill>
              <a:srgbClr val="C7D2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017520"/>
            <a:ext cx="2057400" cy="274320"/>
          </a:xfrm>
          <a:prstGeom prst="rect">
            <a:avLst/>
          </a:prstGeom>
          <a:solidFill>
            <a:srgbClr val="F4F8FA"/>
          </a:solidFill>
          <a:ln w="9525">
            <a:solidFill>
              <a:srgbClr val="C7D2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474720"/>
            <a:ext cx="2057400" cy="274320"/>
          </a:xfrm>
          <a:prstGeom prst="rect">
            <a:avLst/>
          </a:prstGeom>
          <a:solidFill>
            <a:srgbClr val="F4F8FA"/>
          </a:solidFill>
          <a:ln w="9525">
            <a:solidFill>
              <a:srgbClr val="C7D2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931920"/>
            <a:ext cx="2057400" cy="274320"/>
          </a:xfrm>
          <a:prstGeom prst="rect">
            <a:avLst/>
          </a:prstGeom>
          <a:solidFill>
            <a:srgbClr val="F4F8FA"/>
          </a:solidFill>
          <a:ln w="9525">
            <a:solidFill>
              <a:srgbClr val="C7D2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006840" y="187452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C7D2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16568" y="1984248"/>
            <a:ext cx="2386584" cy="320040"/>
          </a:xfrm>
          <a:prstGeom prst="rect">
            <a:avLst/>
          </a:prstGeom>
          <a:solidFill>
            <a:srgbClr val="0B2F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281160" y="256032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CFE8F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78440" y="256032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CFE8F3"/>
          </a:solidFill>
          <a:ln/>
        </p:spPr>
      </p:sp>
      <p:sp>
        <p:nvSpPr>
          <p:cNvPr id="27" name="Shape 25"/>
          <p:cNvSpPr/>
          <p:nvPr/>
        </p:nvSpPr>
        <p:spPr>
          <a:xfrm>
            <a:off x="9281160" y="338328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CFE8F3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78440" y="338328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CFE8F3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Implementation — Screenshots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 from the working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4F8FA"/>
          </a:solidFill>
          <a:ln w="19050">
            <a:solidFill>
              <a:srgbClr val="9FB4B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screenshot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37560" y="187452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4F8FA"/>
          </a:solidFill>
          <a:ln w="19050">
            <a:solidFill>
              <a:srgbClr val="9FB4B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337560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screenshot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4F8FA"/>
          </a:solidFill>
          <a:ln w="19050">
            <a:solidFill>
              <a:srgbClr val="9FB4B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172200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screenshot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4F8FA"/>
          </a:solidFill>
          <a:ln w="19050">
            <a:solidFill>
              <a:srgbClr val="9FB4B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006840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screenshot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for the team: capture real screens of the running app (frontend pages, forms, navigation) here before presenting — do not claim a module is complete without evidence.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&amp; ER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linking members, books, reservations, and fines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relational design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Primary/foreign key relationships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520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queried on MySQL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931920" y="1874520"/>
            <a:ext cx="1920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B2F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87452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0B2F4A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41648" y="22860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memberId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874520"/>
            <a:ext cx="1920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B2F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87452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0B2F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93408" y="22860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bookId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3794760"/>
            <a:ext cx="1920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0B2F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37947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0B2F4A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41648" y="420624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reservationId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memberId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bookId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794760"/>
            <a:ext cx="1920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0B2F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37947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0B2F4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93408" y="420624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fineId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memberId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246120"/>
            <a:ext cx="0" cy="54864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3246120"/>
            <a:ext cx="0" cy="27432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3520440"/>
            <a:ext cx="-1691640" cy="27432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3246120"/>
            <a:ext cx="731520" cy="54864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2735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3611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32735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97880" y="3611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97880" y="32735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3611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 &amp; Sample Records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schema and sample data for core tables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5394960" cy="173736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Sharma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a.sharma@mail.com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Verma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r.verma@mail.com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Iyer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s.iyer@mail.com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8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194560"/>
          <a:ext cx="5394960" cy="173736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Rao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Patel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Singh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2976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above are illustrative placeholders — replace with actual records exported from the working database before the review.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key project milestones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System Design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0" y="182880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3E8E5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1828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871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0" y="2487168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3E8E5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24871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145536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4553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Development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0" y="3145536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31455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803904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0390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Implementation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0" y="3803904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38039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462272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622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Integration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0" y="4462272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5B6B7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4462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512064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120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144000" y="512064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5B6B7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5120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/ Issues Faced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hurdles encountered during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Synchronization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6060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offline cache consistent with the server.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084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Reservations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32320" y="26060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conflicts when multiple members reserve the same item.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Delivery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reliable real-time alerts across devices.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370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Normalization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48920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relations that avoid redundant data.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beyond the current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0160" y="1874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87452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80160" y="271576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271576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book recommendation engine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80160" y="355701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557016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fine payment gateway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80160" y="439826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39826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" y="5239512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4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1508760" y="5239512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Multi-library / multi-branch support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library operations into the digital 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gives members a fast, reliable, always-accessible way to browse, reserve, and track resources — built on a scalable React.js, Node.js, and MySQL stack.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Workload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Member Experience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260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60175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Archives Self-Service Platform  |  Section 10  |  Database and Backend Systems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2026-09-11T06:57:31Z</dcterms:created>
  <dcterms:modified xsi:type="dcterms:W3CDTF">2026-09-11T06:57:31Z</dcterms:modified>
</cp:coreProperties>
</file>