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15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463040"/>
            <a:ext cx="4937760" cy="493776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749040"/>
            <a:ext cx="2377440" cy="237744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4023360"/>
            <a:ext cx="640080" cy="640080"/>
          </a:xfrm>
          <a:prstGeom prst="ellipse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315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731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SELF-SERVICE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D2A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reserve, borrow and pay fines — anytime, anywhere, even offline.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8FAE7C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EXPO 2026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55664" y="694944"/>
            <a:ext cx="2103120" cy="3840480"/>
          </a:xfrm>
          <a:prstGeom prst="roundRect">
            <a:avLst>
              <a:gd name="adj" fmla="val 10870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640080"/>
            <a:ext cx="2103120" cy="384048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0528" y="749808"/>
            <a:ext cx="1883664" cy="731520"/>
          </a:xfrm>
          <a:prstGeom prst="roundRect">
            <a:avLst>
              <a:gd name="adj" fmla="val 22500"/>
            </a:avLst>
          </a:prstGeom>
          <a:solidFill>
            <a:srgbClr val="2B3527"/>
          </a:solidFill>
          <a:ln w="12700">
            <a:solidFill>
              <a:srgbClr val="2B35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868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Hi, Asha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37960" y="1645920"/>
            <a:ext cx="868680" cy="777240"/>
          </a:xfrm>
          <a:prstGeom prst="roundRect">
            <a:avLst>
              <a:gd name="adj" fmla="val 14118"/>
            </a:avLst>
          </a:prstGeom>
          <a:solidFill>
            <a:srgbClr val="D2AC72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7960" y="1719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214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645920"/>
            <a:ext cx="868680" cy="777240"/>
          </a:xfrm>
          <a:prstGeom prst="roundRect">
            <a:avLst>
              <a:gd name="adj" fmla="val 14118"/>
            </a:avLst>
          </a:prstGeom>
          <a:solidFill>
            <a:srgbClr val="8FAE7C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71907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1214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2514600"/>
            <a:ext cx="868680" cy="777240"/>
          </a:xfrm>
          <a:prstGeom prst="roundRect">
            <a:avLst>
              <a:gd name="adj" fmla="val 14118"/>
            </a:avLst>
          </a:prstGeom>
          <a:solidFill>
            <a:srgbClr val="EDE6D6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587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9900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514600"/>
            <a:ext cx="868680" cy="777240"/>
          </a:xfrm>
          <a:prstGeom prst="roundRect">
            <a:avLst>
              <a:gd name="adj" fmla="val 14118"/>
            </a:avLst>
          </a:prstGeom>
          <a:solidFill>
            <a:srgbClr val="D2AC72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25877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9008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342900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DE6D6"/>
          </a:solidFill>
          <a:ln w="9525">
            <a:solidFill>
              <a:srgbClr val="12140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Archive  ·  Due Fri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37960" y="388620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EDE6D6"/>
          </a:solidFill>
          <a:ln w="9525">
            <a:solidFill>
              <a:srgbClr val="12140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 ·  Reserved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library needs a self-service app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desk work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issue and return handled at the counter: slow queues and paperwork.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23844" y="1517904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80" y="1463040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5186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4518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5186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can’t check availability, due dates or fines without visiting.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5624" y="1517904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463040"/>
            <a:ext cx="2606040" cy="1828800"/>
          </a:xfrm>
          <a:prstGeom prst="roundRect">
            <a:avLst>
              <a:gd name="adj" fmla="val 7500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6364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due dates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468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reminders means late returns and surprise penalties.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" y="3621024"/>
            <a:ext cx="8229600" cy="1097280"/>
          </a:xfrm>
          <a:prstGeom prst="roundRect">
            <a:avLst>
              <a:gd name="adj" fmla="val 12500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12500"/>
            </a:avLst>
          </a:prstGeom>
          <a:solidFill>
            <a:srgbClr val="2B3527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68503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6850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069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24/7 mobile-first platform where members manage their whole library account, and admins approve, issue and track everything from one secure API.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modules, one app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onboarding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admin approval, digital card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23844" y="151790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8980" y="146304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357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3357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734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search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51860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title, author or tag; live availability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35624" y="151790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46304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535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4535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066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or cancel in one tap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" y="261518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56032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271576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Borrowing history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and past records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23844" y="261518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8980" y="256032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33572" y="271576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3357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3927348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tracking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345186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₹10/day auto-calculated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261518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256032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5352" y="271576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4535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739128" y="2715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access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26364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data without internet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917954" y="371246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63090" y="365760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27682" y="381304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02768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2521458" y="3813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sync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204597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Auto-reconcile on reconnect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29734" y="3712464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74870" y="3657600"/>
            <a:ext cx="2606040" cy="932688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39462" y="381304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839462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333238" y="3813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85775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and status alerts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2363724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23637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design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Dashboard · Modals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+ Sync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38144" y="1517904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46304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· Role checks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Rate limit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364224" y="1517904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63040"/>
            <a:ext cx="2377440" cy="1920240"/>
          </a:xfrm>
          <a:prstGeom prst="roundRect">
            <a:avLst>
              <a:gd name="adj" fmla="val 7143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1945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relational tables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356616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·  JSON  ·  Bearer token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" y="4078224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2B3527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23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 </a:t>
            </a:r>
            <a:pPr indent="0" marL="0">
              <a:buNone/>
            </a:pPr>
            <a:r>
              <a:rPr lang="en-US" sz="13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8 AM and notifies members whose books are due within 2 days.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2B3527"/>
          </a:solidFill>
          <a:ln w="12700">
            <a:solidFill>
              <a:srgbClr val="2B3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borrowing lifecycle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0078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8950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3464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reserve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7822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issues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26694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5566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fine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644384" y="1517904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1463040"/>
            <a:ext cx="1078992" cy="1188720"/>
          </a:xfrm>
          <a:prstGeom prst="roundRect">
            <a:avLst>
              <a:gd name="adj" fmla="val 12712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1536192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635240" y="2011680"/>
            <a:ext cx="987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receipt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12064" y="3072384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controls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358444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suspend members · manage books &amp; assets · approve reservations · issue &amp; return · reports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18304" y="3072384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8333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rules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4846320" y="358444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members start as Pending. A late return auto-creates a fine (₹10 × days late). Payment gives a unique transaction ID (UPI, Cards, Net Banking – simulated).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and actually tested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15184" y="1517904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Admin roles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18304" y="1517904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63040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helmet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21424" y="1517904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463040"/>
            <a:ext cx="1920240" cy="1188720"/>
          </a:xfrm>
          <a:prstGeom prst="roundRect">
            <a:avLst>
              <a:gd name="adj" fmla="val 11538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/ 15 min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rate limit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" y="2980944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260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4930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(no injection) · express-validator on every write · central error handler that never leaks internals · CORS control.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18304" y="2980944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9260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49300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a real MySQL database with live API requests; the UI was driven in headless Chrome: login → reserve → pay fine → logout.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2B3527"/>
          </a:solidFill>
          <a:ln w="12700">
            <a:solidFill>
              <a:srgbClr val="2B35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2679192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CONCLUSION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12064" y="1517904"/>
            <a:ext cx="4023360" cy="3200400"/>
          </a:xfrm>
          <a:prstGeom prst="roundRect">
            <a:avLst>
              <a:gd name="adj" fmla="val 428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4023360" cy="3200400"/>
          </a:xfrm>
          <a:prstGeom prst="roundRect">
            <a:avLst>
              <a:gd name="adj" fmla="val 4286"/>
            </a:avLst>
          </a:prstGeom>
          <a:solidFill>
            <a:srgbClr val="EDE6D6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20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member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reserve a book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borrowing history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 fine → transaction 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notifications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 &amp; report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 asha.rao@example.com / Member@123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2A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with FCM push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QR-based book issue and return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recommendations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01184" y="3529584"/>
            <a:ext cx="3840480" cy="1188720"/>
          </a:xfrm>
          <a:prstGeom prst="roundRect">
            <a:avLst>
              <a:gd name="adj" fmla="val 11538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3474720"/>
            <a:ext cx="3840480" cy="1188720"/>
          </a:xfrm>
          <a:prstGeom prst="roundRect">
            <a:avLst>
              <a:gd name="adj" fmla="val 11538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secure, tested, end-to-end library system for members and admins.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2A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1463040" cy="1463040"/>
          </a:xfrm>
          <a:prstGeom prst="ellipse">
            <a:avLst/>
          </a:prstGeom>
          <a:solidFill>
            <a:srgbClr val="EDE6D6"/>
          </a:solidFill>
          <a:ln w="12700">
            <a:solidFill>
              <a:srgbClr val="EDE6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743200"/>
            <a:ext cx="2011680" cy="2011680"/>
          </a:xfrm>
          <a:prstGeom prst="ellipse">
            <a:avLst/>
          </a:prstGeom>
          <a:solidFill>
            <a:srgbClr val="2B3527"/>
          </a:solidFill>
          <a:ln w="12700">
            <a:solidFill>
              <a:srgbClr val="2B35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502920"/>
            <a:ext cx="365760" cy="365760"/>
          </a:xfrm>
          <a:prstGeom prst="star5">
            <a:avLst/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011680"/>
            <a:ext cx="365760" cy="365760"/>
          </a:xfrm>
          <a:prstGeom prst="star5">
            <a:avLst/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365760" cy="365760"/>
          </a:xfrm>
          <a:prstGeom prst="star5">
            <a:avLst/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</a:t>
            </a:r>
            <a:pPr algn="ctr" indent="0" marL="0">
              <a:buNone/>
            </a:pPr>
            <a:r>
              <a:rPr lang="en-US" sz="8400" b="1" i="1" dirty="0">
                <a:solidFill>
                  <a:srgbClr val="ED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you!</a:t>
            </a:r>
            <a:endParaRPr lang="en-US" sz="84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47472" cy="82296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4118" y="3429000"/>
            <a:ext cx="347472" cy="1005840"/>
          </a:xfrm>
          <a:prstGeom prst="rect">
            <a:avLst/>
          </a:prstGeom>
          <a:solidFill>
            <a:srgbClr val="EDE6D6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9596" y="3703320"/>
            <a:ext cx="347472" cy="731520"/>
          </a:xfrm>
          <a:prstGeom prst="rect">
            <a:avLst/>
          </a:prstGeom>
          <a:solidFill>
            <a:srgbClr val="2B3527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5074" y="3520440"/>
            <a:ext cx="347472" cy="914400"/>
          </a:xfrm>
          <a:prstGeom prst="rect">
            <a:avLst/>
          </a:prstGeom>
          <a:solidFill>
            <a:srgbClr val="8FAE7C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552" y="3566160"/>
            <a:ext cx="347472" cy="86868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26030" y="3383280"/>
            <a:ext cx="3474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1508" y="3657600"/>
            <a:ext cx="347472" cy="777240"/>
          </a:xfrm>
          <a:prstGeom prst="rect">
            <a:avLst/>
          </a:prstGeom>
          <a:solidFill>
            <a:srgbClr val="2B3527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6986" y="3474720"/>
            <a:ext cx="347472" cy="960120"/>
          </a:xfrm>
          <a:prstGeom prst="rect">
            <a:avLst/>
          </a:prstGeom>
          <a:solidFill>
            <a:srgbClr val="EDE6D6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3611880"/>
            <a:ext cx="347472" cy="82296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7942" y="3429000"/>
            <a:ext cx="347472" cy="1005840"/>
          </a:xfrm>
          <a:prstGeom prst="rect">
            <a:avLst/>
          </a:prstGeom>
          <a:solidFill>
            <a:srgbClr val="8FAE7C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3420" y="3703320"/>
            <a:ext cx="347472" cy="731520"/>
          </a:xfrm>
          <a:prstGeom prst="rect">
            <a:avLst/>
          </a:prstGeom>
          <a:solidFill>
            <a:srgbClr val="2B3527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8898" y="3520440"/>
            <a:ext cx="347472" cy="914400"/>
          </a:xfrm>
          <a:prstGeom prst="rect">
            <a:avLst/>
          </a:prstGeom>
          <a:solidFill>
            <a:srgbClr val="EDE6D6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94376" y="3566160"/>
            <a:ext cx="347472" cy="86868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9854" y="3383280"/>
            <a:ext cx="347472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5332" y="3657600"/>
            <a:ext cx="347472" cy="777240"/>
          </a:xfrm>
          <a:prstGeom prst="rect">
            <a:avLst/>
          </a:prstGeom>
          <a:solidFill>
            <a:srgbClr val="2B3527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0810" y="3520440"/>
            <a:ext cx="347472" cy="914400"/>
          </a:xfrm>
          <a:prstGeom prst="rect">
            <a:avLst/>
          </a:prstGeom>
          <a:solidFill>
            <a:srgbClr val="8FAE7C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76288" y="3611880"/>
            <a:ext cx="347472" cy="82296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1766" y="3429000"/>
            <a:ext cx="347472" cy="1005840"/>
          </a:xfrm>
          <a:prstGeom prst="rect">
            <a:avLst/>
          </a:prstGeom>
          <a:solidFill>
            <a:srgbClr val="EDE6D6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7244" y="3703320"/>
            <a:ext cx="347472" cy="731520"/>
          </a:xfrm>
          <a:prstGeom prst="rect">
            <a:avLst/>
          </a:prstGeom>
          <a:solidFill>
            <a:srgbClr val="2B3527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62722" y="3520440"/>
            <a:ext cx="347472" cy="914400"/>
          </a:xfrm>
          <a:prstGeom prst="rect">
            <a:avLst/>
          </a:prstGeom>
          <a:solidFill>
            <a:srgbClr val="12140F"/>
          </a:solidFill>
          <a:ln w="15875">
            <a:solidFill>
              <a:srgbClr val="12140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8229600" cy="128016"/>
          </a:xfrm>
          <a:prstGeom prst="rect">
            <a:avLst/>
          </a:prstGeom>
          <a:solidFill>
            <a:srgbClr val="12140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188720"/>
            <a:ext cx="2560320" cy="2560320"/>
          </a:xfrm>
          <a:prstGeom prst="ellipse">
            <a:avLst/>
          </a:prstGeom>
          <a:solidFill>
            <a:srgbClr val="D2AC72"/>
          </a:solidFill>
          <a:ln w="12700">
            <a:solidFill>
              <a:srgbClr val="D2AC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640080"/>
            <a:ext cx="457200" cy="457200"/>
          </a:xfrm>
          <a:prstGeom prst="ellipse">
            <a:avLst/>
          </a:prstGeom>
          <a:solidFill>
            <a:srgbClr val="8FAE7C"/>
          </a:solidFill>
          <a:ln w="12700">
            <a:solidFill>
              <a:srgbClr val="8FAE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D2AC72"/>
          </a:solidFill>
          <a:ln w="15240">
            <a:solidFill>
              <a:srgbClr val="1214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 CONCEPTS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concepts used</a:t>
            </a:r>
            <a:endParaRPr lang="en-US" sz="3000" dirty="0"/>
          </a:p>
        </p:txBody>
      </p:sp>
      <p:sp>
        <p:nvSpPr>
          <p:cNvPr id="100" name="Shape 5"/>
          <p:cNvSpPr/>
          <p:nvPr/>
        </p:nvSpPr>
        <p:spPr>
          <a:xfrm>
            <a:off x="512064" y="151790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01" name="Shape 6"/>
          <p:cNvSpPr/>
          <p:nvPr/>
        </p:nvSpPr>
        <p:spPr>
          <a:xfrm>
            <a:off x="457200" y="146304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02" name="Shape 7"/>
          <p:cNvSpPr/>
          <p:nvPr/>
        </p:nvSpPr>
        <p:spPr>
          <a:xfrm>
            <a:off x="62179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03" name="Text 8"/>
          <p:cNvSpPr txBox="1"/>
          <p:nvPr/>
        </p:nvSpPr>
        <p:spPr>
          <a:xfrm>
            <a:off x="62179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9"/>
          <p:cNvSpPr txBox="1"/>
          <p:nvPr/>
        </p:nvSpPr>
        <p:spPr>
          <a:xfrm>
            <a:off x="111556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05" name="Text 10"/>
          <p:cNvSpPr txBox="1"/>
          <p:nvPr/>
        </p:nvSpPr>
        <p:spPr>
          <a:xfrm>
            <a:off x="64008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design (MySQL) · ER modeling · Primary &amp; foreign keys · Normalized structure</a:t>
            </a:r>
            <a:endParaRPr lang="en-US" sz="1100" dirty="0"/>
          </a:p>
        </p:txBody>
      </p:sp>
      <p:sp>
        <p:nvSpPr>
          <p:cNvPr id="106" name="Shape 5"/>
          <p:cNvSpPr/>
          <p:nvPr/>
        </p:nvSpPr>
        <p:spPr>
          <a:xfrm>
            <a:off x="3323844" y="151790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07" name="Shape 6"/>
          <p:cNvSpPr/>
          <p:nvPr/>
        </p:nvSpPr>
        <p:spPr>
          <a:xfrm>
            <a:off x="3268980" y="146304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08" name="Shape 7"/>
          <p:cNvSpPr/>
          <p:nvPr/>
        </p:nvSpPr>
        <p:spPr>
          <a:xfrm>
            <a:off x="343357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09" name="Text 8"/>
          <p:cNvSpPr txBox="1"/>
          <p:nvPr/>
        </p:nvSpPr>
        <p:spPr>
          <a:xfrm>
            <a:off x="343357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0" name="Text 9"/>
          <p:cNvSpPr txBox="1"/>
          <p:nvPr/>
        </p:nvSpPr>
        <p:spPr>
          <a:xfrm>
            <a:off x="392734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operations</a:t>
            </a:r>
            <a:endParaRPr lang="en-US" sz="1400" dirty="0"/>
          </a:p>
        </p:txBody>
      </p:sp>
      <p:sp>
        <p:nvSpPr>
          <p:cNvPr id="111" name="Text 10"/>
          <p:cNvSpPr txBox="1"/>
          <p:nvPr/>
        </p:nvSpPr>
        <p:spPr>
          <a:xfrm>
            <a:off x="345186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· SQL queries &amp; joins · Parameterized queries · Transaction-based updates</a:t>
            </a:r>
            <a:endParaRPr lang="en-US" sz="1100" dirty="0"/>
          </a:p>
        </p:txBody>
      </p:sp>
      <p:sp>
        <p:nvSpPr>
          <p:cNvPr id="112" name="Shape 5"/>
          <p:cNvSpPr/>
          <p:nvPr/>
        </p:nvSpPr>
        <p:spPr>
          <a:xfrm>
            <a:off x="6135624" y="151790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13" name="Shape 6"/>
          <p:cNvSpPr/>
          <p:nvPr/>
        </p:nvSpPr>
        <p:spPr>
          <a:xfrm>
            <a:off x="6080760" y="146304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14" name="Shape 7"/>
          <p:cNvSpPr/>
          <p:nvPr/>
        </p:nvSpPr>
        <p:spPr>
          <a:xfrm>
            <a:off x="6245352" y="161848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15" name="Text 8"/>
          <p:cNvSpPr txBox="1"/>
          <p:nvPr/>
        </p:nvSpPr>
        <p:spPr>
          <a:xfrm>
            <a:off x="6245352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6" name="Text 9"/>
          <p:cNvSpPr txBox="1"/>
          <p:nvPr/>
        </p:nvSpPr>
        <p:spPr>
          <a:xfrm>
            <a:off x="6739128" y="1618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&amp; security</a:t>
            </a:r>
            <a:endParaRPr lang="en-US" sz="1400" dirty="0"/>
          </a:p>
        </p:txBody>
      </p:sp>
      <p:sp>
        <p:nvSpPr>
          <p:cNvPr id="117" name="Text 10"/>
          <p:cNvSpPr txBox="1"/>
          <p:nvPr/>
        </p:nvSpPr>
        <p:spPr>
          <a:xfrm>
            <a:off x="626364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(foreign keys) · Input validation · bcrypt hashing · JWT authentication</a:t>
            </a:r>
            <a:endParaRPr lang="en-US" sz="1100" dirty="0"/>
          </a:p>
        </p:txBody>
      </p:sp>
      <p:sp>
        <p:nvSpPr>
          <p:cNvPr id="118" name="Shape 5"/>
          <p:cNvSpPr/>
          <p:nvPr/>
        </p:nvSpPr>
        <p:spPr>
          <a:xfrm>
            <a:off x="512064" y="316382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19" name="Shape 6"/>
          <p:cNvSpPr/>
          <p:nvPr/>
        </p:nvSpPr>
        <p:spPr>
          <a:xfrm>
            <a:off x="457200" y="310896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8FAE7C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20" name="Shape 7"/>
          <p:cNvSpPr/>
          <p:nvPr/>
        </p:nvSpPr>
        <p:spPr>
          <a:xfrm>
            <a:off x="621792" y="326440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21" name="Text 8"/>
          <p:cNvSpPr txBox="1"/>
          <p:nvPr/>
        </p:nvSpPr>
        <p:spPr>
          <a:xfrm>
            <a:off x="62179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2" name="Text 9"/>
          <p:cNvSpPr txBox="1"/>
          <p:nvPr/>
        </p:nvSpPr>
        <p:spPr>
          <a:xfrm>
            <a:off x="1115568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used</a:t>
            </a:r>
            <a:endParaRPr lang="en-US" sz="1400" dirty="0"/>
          </a:p>
        </p:txBody>
      </p:sp>
      <p:sp>
        <p:nvSpPr>
          <p:cNvPr id="123" name="Text 10"/>
          <p:cNvSpPr txBox="1"/>
          <p:nvPr/>
        </p:nvSpPr>
        <p:spPr>
          <a:xfrm>
            <a:off x="6400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· Admins · Books · Reservations · Borrowings · Fines · Payments · Notifications</a:t>
            </a:r>
            <a:endParaRPr lang="en-US" sz="1100" dirty="0"/>
          </a:p>
        </p:txBody>
      </p:sp>
      <p:sp>
        <p:nvSpPr>
          <p:cNvPr id="124" name="Shape 5"/>
          <p:cNvSpPr/>
          <p:nvPr/>
        </p:nvSpPr>
        <p:spPr>
          <a:xfrm>
            <a:off x="3323844" y="316382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25" name="Shape 6"/>
          <p:cNvSpPr/>
          <p:nvPr/>
        </p:nvSpPr>
        <p:spPr>
          <a:xfrm>
            <a:off x="3268980" y="310896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D2AC72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26" name="Shape 7"/>
          <p:cNvSpPr/>
          <p:nvPr/>
        </p:nvSpPr>
        <p:spPr>
          <a:xfrm>
            <a:off x="3433572" y="326440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27" name="Text 8"/>
          <p:cNvSpPr txBox="1"/>
          <p:nvPr/>
        </p:nvSpPr>
        <p:spPr>
          <a:xfrm>
            <a:off x="343357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28" name="Text 9"/>
          <p:cNvSpPr txBox="1"/>
          <p:nvPr/>
        </p:nvSpPr>
        <p:spPr>
          <a:xfrm>
            <a:off x="3927348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features</a:t>
            </a:r>
            <a:endParaRPr lang="en-US" sz="1400" dirty="0"/>
          </a:p>
        </p:txBody>
      </p:sp>
      <p:sp>
        <p:nvSpPr>
          <p:cNvPr id="129" name="Text 10"/>
          <p:cNvSpPr txBox="1"/>
          <p:nvPr/>
        </p:nvSpPr>
        <p:spPr>
          <a:xfrm>
            <a:off x="345186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 · Auto fine calculation · Reservation tracking · Borrowing history · Cron notifications</a:t>
            </a:r>
            <a:endParaRPr lang="en-US" sz="1100" dirty="0"/>
          </a:p>
        </p:txBody>
      </p:sp>
      <p:sp>
        <p:nvSpPr>
          <p:cNvPr id="130" name="Shape 5"/>
          <p:cNvSpPr/>
          <p:nvPr/>
        </p:nvSpPr>
        <p:spPr>
          <a:xfrm>
            <a:off x="6135624" y="3163824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12140F"/>
          </a:solidFill>
          <a:ln w="12700">
            <a:solidFill>
              <a:srgbClr val="12140F"/>
            </a:solidFill>
            <a:prstDash val="solid"/>
          </a:ln>
        </p:spPr>
      </p:sp>
      <p:sp>
        <p:nvSpPr>
          <p:cNvPr id="131" name="Shape 6"/>
          <p:cNvSpPr/>
          <p:nvPr/>
        </p:nvSpPr>
        <p:spPr>
          <a:xfrm>
            <a:off x="6080760" y="3108960"/>
            <a:ext cx="2606040" cy="1463040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12140F"/>
            </a:solidFill>
            <a:prstDash val="solid"/>
          </a:ln>
        </p:spPr>
      </p:sp>
      <p:sp>
        <p:nvSpPr>
          <p:cNvPr id="132" name="Shape 7"/>
          <p:cNvSpPr/>
          <p:nvPr/>
        </p:nvSpPr>
        <p:spPr>
          <a:xfrm>
            <a:off x="6245352" y="3264408"/>
            <a:ext cx="384048" cy="384048"/>
          </a:xfrm>
          <a:prstGeom prst="ellipse">
            <a:avLst/>
          </a:prstGeom>
          <a:solidFill>
            <a:srgbClr val="12140F"/>
          </a:solidFill>
          <a:ln/>
        </p:spPr>
      </p:sp>
      <p:sp>
        <p:nvSpPr>
          <p:cNvPr id="133" name="Text 8"/>
          <p:cNvSpPr txBox="1"/>
          <p:nvPr/>
        </p:nvSpPr>
        <p:spPr>
          <a:xfrm>
            <a:off x="624535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34" name="Text 9"/>
          <p:cNvSpPr txBox="1"/>
          <p:nvPr/>
        </p:nvSpPr>
        <p:spPr>
          <a:xfrm>
            <a:off x="6739128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400" dirty="0"/>
          </a:p>
        </p:txBody>
      </p:sp>
      <p:sp>
        <p:nvSpPr>
          <p:cNvPr id="135" name="Text 10"/>
          <p:cNvSpPr txBox="1"/>
          <p:nvPr/>
        </p:nvSpPr>
        <p:spPr>
          <a:xfrm>
            <a:off x="626364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relational database designed and connected to REST APIs, with secure, consistent data management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&amp; Archives Mobile App</dc:title>
  <dc:subject>PptxGenJS Presentation</dc:subject>
  <dc:creator>PptxGenJS</dc:creator>
  <cp:lastModifiedBy>PptxGenJS</cp:lastModifiedBy>
  <cp:revision>1</cp:revision>
  <dcterms:created xsi:type="dcterms:W3CDTF">2026-10-02T14:06:03Z</dcterms:created>
  <dcterms:modified xsi:type="dcterms:W3CDTF">2026-10-02T14:06:03Z</dcterms:modified>
</cp:coreProperties>
</file>